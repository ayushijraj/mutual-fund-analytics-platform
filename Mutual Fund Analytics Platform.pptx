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39701E-764C-42A3-90A9-B57FFBE2F0F4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7E2C4F-C532-4C24-A8D1-F1412813DC3D}">
      <dgm:prSet phldrT="[Text]" phldr="0"/>
      <dgm:spPr/>
      <dgm:t>
        <a:bodyPr/>
        <a:lstStyle/>
        <a:p>
          <a:r>
            <a:rPr lang="en-US" dirty="0"/>
            <a:t>Data Collection</a:t>
          </a:r>
          <a:endParaRPr lang="en-IN" dirty="0"/>
        </a:p>
      </dgm:t>
    </dgm:pt>
    <dgm:pt modelId="{D8549B9D-D32A-483F-B538-282211117687}" type="parTrans" cxnId="{A3BD8852-6C68-419F-8F38-865059558B4E}">
      <dgm:prSet/>
      <dgm:spPr/>
      <dgm:t>
        <a:bodyPr/>
        <a:lstStyle/>
        <a:p>
          <a:endParaRPr lang="en-IN"/>
        </a:p>
      </dgm:t>
    </dgm:pt>
    <dgm:pt modelId="{FC58D859-E697-4A4A-B6AF-7A8260BC682D}" type="sibTrans" cxnId="{A3BD8852-6C68-419F-8F38-865059558B4E}">
      <dgm:prSet/>
      <dgm:spPr/>
      <dgm:t>
        <a:bodyPr/>
        <a:lstStyle/>
        <a:p>
          <a:endParaRPr lang="en-IN"/>
        </a:p>
      </dgm:t>
    </dgm:pt>
    <dgm:pt modelId="{6CEA67C1-6985-4585-B766-58E9E515BAD4}">
      <dgm:prSet phldrT="[Text]" phldr="0"/>
      <dgm:spPr/>
      <dgm:t>
        <a:bodyPr/>
        <a:lstStyle/>
        <a:p>
          <a:r>
            <a:rPr lang="en-US" dirty="0"/>
            <a:t>Data Cleaning</a:t>
          </a:r>
          <a:endParaRPr lang="en-IN" dirty="0"/>
        </a:p>
      </dgm:t>
    </dgm:pt>
    <dgm:pt modelId="{8CED1BD6-E3FB-4B47-A391-8B465CC66517}" type="parTrans" cxnId="{CBD969C7-8FDC-4C14-BF98-61BF1417A0A7}">
      <dgm:prSet/>
      <dgm:spPr/>
      <dgm:t>
        <a:bodyPr/>
        <a:lstStyle/>
        <a:p>
          <a:endParaRPr lang="en-IN"/>
        </a:p>
      </dgm:t>
    </dgm:pt>
    <dgm:pt modelId="{0238599D-4D6F-425F-A85D-A09197FFF2CD}" type="sibTrans" cxnId="{CBD969C7-8FDC-4C14-BF98-61BF1417A0A7}">
      <dgm:prSet/>
      <dgm:spPr/>
      <dgm:t>
        <a:bodyPr/>
        <a:lstStyle/>
        <a:p>
          <a:endParaRPr lang="en-IN"/>
        </a:p>
      </dgm:t>
    </dgm:pt>
    <dgm:pt modelId="{FEE934C0-E4A2-4CA6-B7AC-97755D17A4C6}">
      <dgm:prSet phldrT="[Text]" phldr="0"/>
      <dgm:spPr/>
      <dgm:t>
        <a:bodyPr/>
        <a:lstStyle/>
        <a:p>
          <a:r>
            <a:rPr lang="en-US" dirty="0"/>
            <a:t>EDA</a:t>
          </a:r>
          <a:endParaRPr lang="en-IN" dirty="0"/>
        </a:p>
      </dgm:t>
    </dgm:pt>
    <dgm:pt modelId="{46C912AD-8243-462B-A9E0-8D0F90C10528}" type="parTrans" cxnId="{FE00255F-6810-4F97-A80B-115BCDB2DC41}">
      <dgm:prSet/>
      <dgm:spPr/>
      <dgm:t>
        <a:bodyPr/>
        <a:lstStyle/>
        <a:p>
          <a:endParaRPr lang="en-IN"/>
        </a:p>
      </dgm:t>
    </dgm:pt>
    <dgm:pt modelId="{D62F2928-E9AB-4FD5-A688-9ACD38D49C91}" type="sibTrans" cxnId="{FE00255F-6810-4F97-A80B-115BCDB2DC41}">
      <dgm:prSet/>
      <dgm:spPr/>
      <dgm:t>
        <a:bodyPr/>
        <a:lstStyle/>
        <a:p>
          <a:endParaRPr lang="en-IN"/>
        </a:p>
      </dgm:t>
    </dgm:pt>
    <dgm:pt modelId="{8B656204-BA66-4FD9-B418-E4E538DDA62C}">
      <dgm:prSet phldrT="[Text]" phldr="0"/>
      <dgm:spPr/>
      <dgm:t>
        <a:bodyPr/>
        <a:lstStyle/>
        <a:p>
          <a:r>
            <a:rPr lang="en-US" dirty="0"/>
            <a:t>SQLite Database</a:t>
          </a:r>
          <a:endParaRPr lang="en-IN" dirty="0"/>
        </a:p>
      </dgm:t>
    </dgm:pt>
    <dgm:pt modelId="{EFB0C42B-3C5E-4DE1-AEA8-79FFFBD85D62}" type="parTrans" cxnId="{3AEFAA50-3092-4ACD-9910-8F8128556D99}">
      <dgm:prSet/>
      <dgm:spPr/>
      <dgm:t>
        <a:bodyPr/>
        <a:lstStyle/>
        <a:p>
          <a:endParaRPr lang="en-IN"/>
        </a:p>
      </dgm:t>
    </dgm:pt>
    <dgm:pt modelId="{8A15D64B-2BCF-4E90-88D7-E0C9DAFAA0D4}" type="sibTrans" cxnId="{3AEFAA50-3092-4ACD-9910-8F8128556D99}">
      <dgm:prSet/>
      <dgm:spPr/>
      <dgm:t>
        <a:bodyPr/>
        <a:lstStyle/>
        <a:p>
          <a:endParaRPr lang="en-IN"/>
        </a:p>
      </dgm:t>
    </dgm:pt>
    <dgm:pt modelId="{2A0FA6EE-BB65-48B9-8785-60462B609687}">
      <dgm:prSet phldrT="[Text]" phldr="0"/>
      <dgm:spPr/>
      <dgm:t>
        <a:bodyPr/>
        <a:lstStyle/>
        <a:p>
          <a:r>
            <a:rPr lang="en-US" dirty="0"/>
            <a:t>Performance Analytics</a:t>
          </a:r>
          <a:endParaRPr lang="en-IN" dirty="0"/>
        </a:p>
      </dgm:t>
    </dgm:pt>
    <dgm:pt modelId="{948F41AE-B0CF-45DB-8574-BE2A1A810510}" type="parTrans" cxnId="{742DA542-8A9C-4686-AF4C-98065518283C}">
      <dgm:prSet/>
      <dgm:spPr/>
      <dgm:t>
        <a:bodyPr/>
        <a:lstStyle/>
        <a:p>
          <a:endParaRPr lang="en-IN"/>
        </a:p>
      </dgm:t>
    </dgm:pt>
    <dgm:pt modelId="{391BFA74-4FAD-4D85-A892-1196FA82B123}" type="sibTrans" cxnId="{742DA542-8A9C-4686-AF4C-98065518283C}">
      <dgm:prSet/>
      <dgm:spPr/>
      <dgm:t>
        <a:bodyPr/>
        <a:lstStyle/>
        <a:p>
          <a:endParaRPr lang="en-IN"/>
        </a:p>
      </dgm:t>
    </dgm:pt>
    <dgm:pt modelId="{E225B1D2-EE3C-44AC-B1F4-88AB42AFF990}">
      <dgm:prSet phldrT="[Text]" phldr="0"/>
      <dgm:spPr/>
      <dgm:t>
        <a:bodyPr/>
        <a:lstStyle/>
        <a:p>
          <a:r>
            <a:rPr lang="en-US" dirty="0"/>
            <a:t>Advanced Analytics</a:t>
          </a:r>
          <a:endParaRPr lang="en-IN" dirty="0"/>
        </a:p>
      </dgm:t>
    </dgm:pt>
    <dgm:pt modelId="{77BC535F-9A3F-4909-972F-6B4AA7314213}" type="parTrans" cxnId="{BA44C57C-EE4B-4C7D-BA1C-BD619F71C02A}">
      <dgm:prSet/>
      <dgm:spPr/>
      <dgm:t>
        <a:bodyPr/>
        <a:lstStyle/>
        <a:p>
          <a:endParaRPr lang="en-IN"/>
        </a:p>
      </dgm:t>
    </dgm:pt>
    <dgm:pt modelId="{2838215A-60C1-4526-91E8-7A2EEDDDD42C}" type="sibTrans" cxnId="{BA44C57C-EE4B-4C7D-BA1C-BD619F71C02A}">
      <dgm:prSet/>
      <dgm:spPr/>
      <dgm:t>
        <a:bodyPr/>
        <a:lstStyle/>
        <a:p>
          <a:endParaRPr lang="en-IN"/>
        </a:p>
      </dgm:t>
    </dgm:pt>
    <dgm:pt modelId="{0314EEBE-7772-4B89-8E54-1B9BA03785F2}">
      <dgm:prSet phldrT="[Text]" phldr="0"/>
      <dgm:spPr/>
      <dgm:t>
        <a:bodyPr/>
        <a:lstStyle/>
        <a:p>
          <a:r>
            <a:rPr lang="en-US"/>
            <a:t>Power BI Dashboard</a:t>
          </a:r>
          <a:endParaRPr lang="en-IN" dirty="0"/>
        </a:p>
      </dgm:t>
    </dgm:pt>
    <dgm:pt modelId="{3A35EA77-2EB9-4F10-A9C4-A5704DBDD40F}" type="parTrans" cxnId="{17EF43B9-67D5-4E18-A5F7-B53DDEECC189}">
      <dgm:prSet/>
      <dgm:spPr/>
      <dgm:t>
        <a:bodyPr/>
        <a:lstStyle/>
        <a:p>
          <a:endParaRPr lang="en-IN"/>
        </a:p>
      </dgm:t>
    </dgm:pt>
    <dgm:pt modelId="{73D8025D-8D3E-418F-A3B0-3F3B3B9F2E8D}" type="sibTrans" cxnId="{17EF43B9-67D5-4E18-A5F7-B53DDEECC189}">
      <dgm:prSet/>
      <dgm:spPr/>
      <dgm:t>
        <a:bodyPr/>
        <a:lstStyle/>
        <a:p>
          <a:endParaRPr lang="en-IN"/>
        </a:p>
      </dgm:t>
    </dgm:pt>
    <dgm:pt modelId="{33B78D55-73AE-4F8C-ABEA-484C056A0294}" type="pres">
      <dgm:prSet presAssocID="{B339701E-764C-42A3-90A9-B57FFBE2F0F4}" presName="linearFlow" presStyleCnt="0">
        <dgm:presLayoutVars>
          <dgm:resizeHandles val="exact"/>
        </dgm:presLayoutVars>
      </dgm:prSet>
      <dgm:spPr/>
    </dgm:pt>
    <dgm:pt modelId="{31A9A5A8-8B05-4BCA-B656-11CFA2BFA714}" type="pres">
      <dgm:prSet presAssocID="{357E2C4F-C532-4C24-A8D1-F1412813DC3D}" presName="node" presStyleLbl="node1" presStyleIdx="0" presStyleCnt="7" custScaleX="66646" custScaleY="39815">
        <dgm:presLayoutVars>
          <dgm:bulletEnabled val="1"/>
        </dgm:presLayoutVars>
      </dgm:prSet>
      <dgm:spPr/>
    </dgm:pt>
    <dgm:pt modelId="{AFC98155-F754-4C92-BEC4-8A41816ECBD1}" type="pres">
      <dgm:prSet presAssocID="{FC58D859-E697-4A4A-B6AF-7A8260BC682D}" presName="sibTrans" presStyleLbl="sibTrans2D1" presStyleIdx="0" presStyleCnt="6" custScaleX="69816" custScaleY="48340"/>
      <dgm:spPr/>
    </dgm:pt>
    <dgm:pt modelId="{CA5CDAFE-80FF-495D-B16C-D0FE961EB78D}" type="pres">
      <dgm:prSet presAssocID="{FC58D859-E697-4A4A-B6AF-7A8260BC682D}" presName="connectorText" presStyleLbl="sibTrans2D1" presStyleIdx="0" presStyleCnt="6"/>
      <dgm:spPr/>
    </dgm:pt>
    <dgm:pt modelId="{C831625E-3777-438F-9597-BB85EB3434CD}" type="pres">
      <dgm:prSet presAssocID="{6CEA67C1-6985-4585-B766-58E9E515BAD4}" presName="node" presStyleLbl="node1" presStyleIdx="1" presStyleCnt="7" custScaleX="60108" custScaleY="29945">
        <dgm:presLayoutVars>
          <dgm:bulletEnabled val="1"/>
        </dgm:presLayoutVars>
      </dgm:prSet>
      <dgm:spPr/>
    </dgm:pt>
    <dgm:pt modelId="{7E1741C3-428C-4C17-9EA4-C183822281B0}" type="pres">
      <dgm:prSet presAssocID="{0238599D-4D6F-425F-A85D-A09197FFF2CD}" presName="sibTrans" presStyleLbl="sibTrans2D1" presStyleIdx="1" presStyleCnt="6" custScaleX="79999" custScaleY="49799"/>
      <dgm:spPr/>
    </dgm:pt>
    <dgm:pt modelId="{4A380221-CAA3-44D3-B37D-8A87C7247478}" type="pres">
      <dgm:prSet presAssocID="{0238599D-4D6F-425F-A85D-A09197FFF2CD}" presName="connectorText" presStyleLbl="sibTrans2D1" presStyleIdx="1" presStyleCnt="6"/>
      <dgm:spPr/>
    </dgm:pt>
    <dgm:pt modelId="{E7738C69-AB3F-48FD-A8B1-45A01517EDC6}" type="pres">
      <dgm:prSet presAssocID="{8B656204-BA66-4FD9-B418-E4E538DDA62C}" presName="node" presStyleLbl="node1" presStyleIdx="2" presStyleCnt="7" custScaleX="76618" custScaleY="32391">
        <dgm:presLayoutVars>
          <dgm:bulletEnabled val="1"/>
        </dgm:presLayoutVars>
      </dgm:prSet>
      <dgm:spPr/>
    </dgm:pt>
    <dgm:pt modelId="{AB9C0302-AC91-4382-A2F8-DA537453FE67}" type="pres">
      <dgm:prSet presAssocID="{8A15D64B-2BCF-4E90-88D7-E0C9DAFAA0D4}" presName="sibTrans" presStyleLbl="sibTrans2D1" presStyleIdx="2" presStyleCnt="6" custScaleY="49799"/>
      <dgm:spPr/>
    </dgm:pt>
    <dgm:pt modelId="{1326A907-FF72-4C0B-9AAB-57E13B0767DB}" type="pres">
      <dgm:prSet presAssocID="{8A15D64B-2BCF-4E90-88D7-E0C9DAFAA0D4}" presName="connectorText" presStyleLbl="sibTrans2D1" presStyleIdx="2" presStyleCnt="6"/>
      <dgm:spPr/>
    </dgm:pt>
    <dgm:pt modelId="{E13839F3-6B68-44E7-80F5-66A6AED38F14}" type="pres">
      <dgm:prSet presAssocID="{FEE934C0-E4A2-4CA6-B7AC-97755D17A4C6}" presName="node" presStyleLbl="node1" presStyleIdx="3" presStyleCnt="7" custScaleX="39438" custScaleY="28955">
        <dgm:presLayoutVars>
          <dgm:bulletEnabled val="1"/>
        </dgm:presLayoutVars>
      </dgm:prSet>
      <dgm:spPr/>
    </dgm:pt>
    <dgm:pt modelId="{E44557F3-4B45-4EBF-84FC-9BE57BD14C0B}" type="pres">
      <dgm:prSet presAssocID="{D62F2928-E9AB-4FD5-A688-9ACD38D49C91}" presName="sibTrans" presStyleLbl="sibTrans2D1" presStyleIdx="3" presStyleCnt="6" custScaleX="76837" custScaleY="72267"/>
      <dgm:spPr/>
    </dgm:pt>
    <dgm:pt modelId="{08B211E3-19B9-4DC8-B3E7-A560D2543946}" type="pres">
      <dgm:prSet presAssocID="{D62F2928-E9AB-4FD5-A688-9ACD38D49C91}" presName="connectorText" presStyleLbl="sibTrans2D1" presStyleIdx="3" presStyleCnt="6"/>
      <dgm:spPr/>
    </dgm:pt>
    <dgm:pt modelId="{2F1C2242-4242-4A92-98BB-56999FFFA9E8}" type="pres">
      <dgm:prSet presAssocID="{2A0FA6EE-BB65-48B9-8785-60462B609687}" presName="node" presStyleLbl="node1" presStyleIdx="4" presStyleCnt="7" custScaleX="63354" custScaleY="57140">
        <dgm:presLayoutVars>
          <dgm:bulletEnabled val="1"/>
        </dgm:presLayoutVars>
      </dgm:prSet>
      <dgm:spPr/>
    </dgm:pt>
    <dgm:pt modelId="{EF8BD205-A3AA-49D2-9286-10D49A313054}" type="pres">
      <dgm:prSet presAssocID="{391BFA74-4FAD-4D85-A892-1196FA82B123}" presName="sibTrans" presStyleLbl="sibTrans2D1" presStyleIdx="4" presStyleCnt="6" custAng="21449939" custScaleX="86075" custScaleY="59208" custLinFactNeighborX="-7793" custLinFactNeighborY="2219"/>
      <dgm:spPr/>
    </dgm:pt>
    <dgm:pt modelId="{1542AD33-AC8D-4A32-A66A-EE19FCB96E9A}" type="pres">
      <dgm:prSet presAssocID="{391BFA74-4FAD-4D85-A892-1196FA82B123}" presName="connectorText" presStyleLbl="sibTrans2D1" presStyleIdx="4" presStyleCnt="6"/>
      <dgm:spPr/>
    </dgm:pt>
    <dgm:pt modelId="{B183A071-10BD-46AA-A21A-B82E94EE00BE}" type="pres">
      <dgm:prSet presAssocID="{E225B1D2-EE3C-44AC-B1F4-88AB42AFF990}" presName="node" presStyleLbl="node1" presStyleIdx="5" presStyleCnt="7" custScaleX="83713" custScaleY="31477" custLinFactNeighborX="-2058" custLinFactNeighborY="6094">
        <dgm:presLayoutVars>
          <dgm:bulletEnabled val="1"/>
        </dgm:presLayoutVars>
      </dgm:prSet>
      <dgm:spPr/>
    </dgm:pt>
    <dgm:pt modelId="{C53F1371-C7EB-4CF4-AB84-C00CC6B78150}" type="pres">
      <dgm:prSet presAssocID="{2838215A-60C1-4526-91E8-7A2EEDDDD42C}" presName="sibTrans" presStyleLbl="sibTrans2D1" presStyleIdx="5" presStyleCnt="6" custAng="166654" custScaleX="101773" custScaleY="80270"/>
      <dgm:spPr/>
    </dgm:pt>
    <dgm:pt modelId="{8BE89C8A-B760-4FF2-A857-9178CCAF83FD}" type="pres">
      <dgm:prSet presAssocID="{2838215A-60C1-4526-91E8-7A2EEDDDD42C}" presName="connectorText" presStyleLbl="sibTrans2D1" presStyleIdx="5" presStyleCnt="6"/>
      <dgm:spPr/>
    </dgm:pt>
    <dgm:pt modelId="{E8A967C8-A6D6-4E41-9E7B-96EC685ACA3F}" type="pres">
      <dgm:prSet presAssocID="{0314EEBE-7772-4B89-8E54-1B9BA03785F2}" presName="node" presStyleLbl="node1" presStyleIdx="6" presStyleCnt="7" custScaleX="78242" custScaleY="27326">
        <dgm:presLayoutVars>
          <dgm:bulletEnabled val="1"/>
        </dgm:presLayoutVars>
      </dgm:prSet>
      <dgm:spPr/>
    </dgm:pt>
  </dgm:ptLst>
  <dgm:cxnLst>
    <dgm:cxn modelId="{86916A10-DD77-4E24-9B33-166240982B9D}" type="presOf" srcId="{391BFA74-4FAD-4D85-A892-1196FA82B123}" destId="{1542AD33-AC8D-4A32-A66A-EE19FCB96E9A}" srcOrd="1" destOrd="0" presId="urn:microsoft.com/office/officeart/2005/8/layout/process2"/>
    <dgm:cxn modelId="{6EBB1F12-D065-4123-BA60-6AECD2896187}" type="presOf" srcId="{6CEA67C1-6985-4585-B766-58E9E515BAD4}" destId="{C831625E-3777-438F-9597-BB85EB3434CD}" srcOrd="0" destOrd="0" presId="urn:microsoft.com/office/officeart/2005/8/layout/process2"/>
    <dgm:cxn modelId="{2ADF493C-0AE9-4D41-9EAA-2296CC957318}" type="presOf" srcId="{8A15D64B-2BCF-4E90-88D7-E0C9DAFAA0D4}" destId="{AB9C0302-AC91-4382-A2F8-DA537453FE67}" srcOrd="0" destOrd="0" presId="urn:microsoft.com/office/officeart/2005/8/layout/process2"/>
    <dgm:cxn modelId="{0D693D3F-0C6D-4760-A518-25A2422B42B7}" type="presOf" srcId="{FEE934C0-E4A2-4CA6-B7AC-97755D17A4C6}" destId="{E13839F3-6B68-44E7-80F5-66A6AED38F14}" srcOrd="0" destOrd="0" presId="urn:microsoft.com/office/officeart/2005/8/layout/process2"/>
    <dgm:cxn modelId="{FE00255F-6810-4F97-A80B-115BCDB2DC41}" srcId="{B339701E-764C-42A3-90A9-B57FFBE2F0F4}" destId="{FEE934C0-E4A2-4CA6-B7AC-97755D17A4C6}" srcOrd="3" destOrd="0" parTransId="{46C912AD-8243-462B-A9E0-8D0F90C10528}" sibTransId="{D62F2928-E9AB-4FD5-A688-9ACD38D49C91}"/>
    <dgm:cxn modelId="{742DA542-8A9C-4686-AF4C-98065518283C}" srcId="{B339701E-764C-42A3-90A9-B57FFBE2F0F4}" destId="{2A0FA6EE-BB65-48B9-8785-60462B609687}" srcOrd="4" destOrd="0" parTransId="{948F41AE-B0CF-45DB-8574-BE2A1A810510}" sibTransId="{391BFA74-4FAD-4D85-A892-1196FA82B123}"/>
    <dgm:cxn modelId="{14783C44-2EFF-4CC6-9A05-AD6D9FF9EF6F}" type="presOf" srcId="{B339701E-764C-42A3-90A9-B57FFBE2F0F4}" destId="{33B78D55-73AE-4F8C-ABEA-484C056A0294}" srcOrd="0" destOrd="0" presId="urn:microsoft.com/office/officeart/2005/8/layout/process2"/>
    <dgm:cxn modelId="{51A5CC65-6825-4C12-AD3B-FE6CA6436B1A}" type="presOf" srcId="{0238599D-4D6F-425F-A85D-A09197FFF2CD}" destId="{4A380221-CAA3-44D3-B37D-8A87C7247478}" srcOrd="1" destOrd="0" presId="urn:microsoft.com/office/officeart/2005/8/layout/process2"/>
    <dgm:cxn modelId="{1B935D4E-3F15-4FC1-AE28-E991BFE87331}" type="presOf" srcId="{E225B1D2-EE3C-44AC-B1F4-88AB42AFF990}" destId="{B183A071-10BD-46AA-A21A-B82E94EE00BE}" srcOrd="0" destOrd="0" presId="urn:microsoft.com/office/officeart/2005/8/layout/process2"/>
    <dgm:cxn modelId="{43593A70-6B7C-4D11-B872-5A9B2E85573D}" type="presOf" srcId="{357E2C4F-C532-4C24-A8D1-F1412813DC3D}" destId="{31A9A5A8-8B05-4BCA-B656-11CFA2BFA714}" srcOrd="0" destOrd="0" presId="urn:microsoft.com/office/officeart/2005/8/layout/process2"/>
    <dgm:cxn modelId="{3AEFAA50-3092-4ACD-9910-8F8128556D99}" srcId="{B339701E-764C-42A3-90A9-B57FFBE2F0F4}" destId="{8B656204-BA66-4FD9-B418-E4E538DDA62C}" srcOrd="2" destOrd="0" parTransId="{EFB0C42B-3C5E-4DE1-AEA8-79FFFBD85D62}" sibTransId="{8A15D64B-2BCF-4E90-88D7-E0C9DAFAA0D4}"/>
    <dgm:cxn modelId="{A3BD8852-6C68-419F-8F38-865059558B4E}" srcId="{B339701E-764C-42A3-90A9-B57FFBE2F0F4}" destId="{357E2C4F-C532-4C24-A8D1-F1412813DC3D}" srcOrd="0" destOrd="0" parTransId="{D8549B9D-D32A-483F-B538-282211117687}" sibTransId="{FC58D859-E697-4A4A-B6AF-7A8260BC682D}"/>
    <dgm:cxn modelId="{8A9AF573-841E-4427-BD0E-310A317D1303}" type="presOf" srcId="{391BFA74-4FAD-4D85-A892-1196FA82B123}" destId="{EF8BD205-A3AA-49D2-9286-10D49A313054}" srcOrd="0" destOrd="0" presId="urn:microsoft.com/office/officeart/2005/8/layout/process2"/>
    <dgm:cxn modelId="{375CD977-6A27-4223-A5CA-4A2A02DFDC08}" type="presOf" srcId="{8B656204-BA66-4FD9-B418-E4E538DDA62C}" destId="{E7738C69-AB3F-48FD-A8B1-45A01517EDC6}" srcOrd="0" destOrd="0" presId="urn:microsoft.com/office/officeart/2005/8/layout/process2"/>
    <dgm:cxn modelId="{BA44C57C-EE4B-4C7D-BA1C-BD619F71C02A}" srcId="{B339701E-764C-42A3-90A9-B57FFBE2F0F4}" destId="{E225B1D2-EE3C-44AC-B1F4-88AB42AFF990}" srcOrd="5" destOrd="0" parTransId="{77BC535F-9A3F-4909-972F-6B4AA7314213}" sibTransId="{2838215A-60C1-4526-91E8-7A2EEDDDD42C}"/>
    <dgm:cxn modelId="{5410C687-0321-430A-B26E-C05959CD3A0F}" type="presOf" srcId="{FC58D859-E697-4A4A-B6AF-7A8260BC682D}" destId="{CA5CDAFE-80FF-495D-B16C-D0FE961EB78D}" srcOrd="1" destOrd="0" presId="urn:microsoft.com/office/officeart/2005/8/layout/process2"/>
    <dgm:cxn modelId="{8B4EDA8A-E52B-48B3-956C-4D41071FCFE2}" type="presOf" srcId="{0238599D-4D6F-425F-A85D-A09197FFF2CD}" destId="{7E1741C3-428C-4C17-9EA4-C183822281B0}" srcOrd="0" destOrd="0" presId="urn:microsoft.com/office/officeart/2005/8/layout/process2"/>
    <dgm:cxn modelId="{2E649295-F489-4DA8-AB98-95CC346F4270}" type="presOf" srcId="{D62F2928-E9AB-4FD5-A688-9ACD38D49C91}" destId="{E44557F3-4B45-4EBF-84FC-9BE57BD14C0B}" srcOrd="0" destOrd="0" presId="urn:microsoft.com/office/officeart/2005/8/layout/process2"/>
    <dgm:cxn modelId="{60458799-65EC-4A8B-A296-4B6D0F8ECB73}" type="presOf" srcId="{D62F2928-E9AB-4FD5-A688-9ACD38D49C91}" destId="{08B211E3-19B9-4DC8-B3E7-A560D2543946}" srcOrd="1" destOrd="0" presId="urn:microsoft.com/office/officeart/2005/8/layout/process2"/>
    <dgm:cxn modelId="{7E02489C-5DEC-4808-B4CC-66DB9BC6794D}" type="presOf" srcId="{FC58D859-E697-4A4A-B6AF-7A8260BC682D}" destId="{AFC98155-F754-4C92-BEC4-8A41816ECBD1}" srcOrd="0" destOrd="0" presId="urn:microsoft.com/office/officeart/2005/8/layout/process2"/>
    <dgm:cxn modelId="{DF7F6AB5-DACB-4ECE-96CB-78B0F405BD1A}" type="presOf" srcId="{2A0FA6EE-BB65-48B9-8785-60462B609687}" destId="{2F1C2242-4242-4A92-98BB-56999FFFA9E8}" srcOrd="0" destOrd="0" presId="urn:microsoft.com/office/officeart/2005/8/layout/process2"/>
    <dgm:cxn modelId="{17EF43B9-67D5-4E18-A5F7-B53DDEECC189}" srcId="{B339701E-764C-42A3-90A9-B57FFBE2F0F4}" destId="{0314EEBE-7772-4B89-8E54-1B9BA03785F2}" srcOrd="6" destOrd="0" parTransId="{3A35EA77-2EB9-4F10-A9C4-A5704DBDD40F}" sibTransId="{73D8025D-8D3E-418F-A3B0-3F3B3B9F2E8D}"/>
    <dgm:cxn modelId="{42A62FC5-E2B4-4088-B2BF-D70191116126}" type="presOf" srcId="{0314EEBE-7772-4B89-8E54-1B9BA03785F2}" destId="{E8A967C8-A6D6-4E41-9E7B-96EC685ACA3F}" srcOrd="0" destOrd="0" presId="urn:microsoft.com/office/officeart/2005/8/layout/process2"/>
    <dgm:cxn modelId="{CBD969C7-8FDC-4C14-BF98-61BF1417A0A7}" srcId="{B339701E-764C-42A3-90A9-B57FFBE2F0F4}" destId="{6CEA67C1-6985-4585-B766-58E9E515BAD4}" srcOrd="1" destOrd="0" parTransId="{8CED1BD6-E3FB-4B47-A391-8B465CC66517}" sibTransId="{0238599D-4D6F-425F-A85D-A09197FFF2CD}"/>
    <dgm:cxn modelId="{BF1F0FE0-DEF6-4DF2-855D-E6A57C042BFE}" type="presOf" srcId="{2838215A-60C1-4526-91E8-7A2EEDDDD42C}" destId="{8BE89C8A-B760-4FF2-A857-9178CCAF83FD}" srcOrd="1" destOrd="0" presId="urn:microsoft.com/office/officeart/2005/8/layout/process2"/>
    <dgm:cxn modelId="{2DE5D6F3-DE4E-4E43-95A5-C10A6A77048B}" type="presOf" srcId="{2838215A-60C1-4526-91E8-7A2EEDDDD42C}" destId="{C53F1371-C7EB-4CF4-AB84-C00CC6B78150}" srcOrd="0" destOrd="0" presId="urn:microsoft.com/office/officeart/2005/8/layout/process2"/>
    <dgm:cxn modelId="{96C298F6-B2AF-4096-8D70-16D9239F8ED9}" type="presOf" srcId="{8A15D64B-2BCF-4E90-88D7-E0C9DAFAA0D4}" destId="{1326A907-FF72-4C0B-9AAB-57E13B0767DB}" srcOrd="1" destOrd="0" presId="urn:microsoft.com/office/officeart/2005/8/layout/process2"/>
    <dgm:cxn modelId="{57D0C3F4-64B7-4372-8D78-04BFFADCBF80}" type="presParOf" srcId="{33B78D55-73AE-4F8C-ABEA-484C056A0294}" destId="{31A9A5A8-8B05-4BCA-B656-11CFA2BFA714}" srcOrd="0" destOrd="0" presId="urn:microsoft.com/office/officeart/2005/8/layout/process2"/>
    <dgm:cxn modelId="{1922AE53-4C26-40CB-9B3B-F342161DC821}" type="presParOf" srcId="{33B78D55-73AE-4F8C-ABEA-484C056A0294}" destId="{AFC98155-F754-4C92-BEC4-8A41816ECBD1}" srcOrd="1" destOrd="0" presId="urn:microsoft.com/office/officeart/2005/8/layout/process2"/>
    <dgm:cxn modelId="{65AE08D6-503A-46FF-8ECD-6F50C5723B3E}" type="presParOf" srcId="{AFC98155-F754-4C92-BEC4-8A41816ECBD1}" destId="{CA5CDAFE-80FF-495D-B16C-D0FE961EB78D}" srcOrd="0" destOrd="0" presId="urn:microsoft.com/office/officeart/2005/8/layout/process2"/>
    <dgm:cxn modelId="{E7E9B517-E58C-4573-A899-1F70823989A4}" type="presParOf" srcId="{33B78D55-73AE-4F8C-ABEA-484C056A0294}" destId="{C831625E-3777-438F-9597-BB85EB3434CD}" srcOrd="2" destOrd="0" presId="urn:microsoft.com/office/officeart/2005/8/layout/process2"/>
    <dgm:cxn modelId="{D8AB226B-3492-4FFD-8A38-41CFFB3D979F}" type="presParOf" srcId="{33B78D55-73AE-4F8C-ABEA-484C056A0294}" destId="{7E1741C3-428C-4C17-9EA4-C183822281B0}" srcOrd="3" destOrd="0" presId="urn:microsoft.com/office/officeart/2005/8/layout/process2"/>
    <dgm:cxn modelId="{58CE4C4E-1B30-437A-B7C7-8B47820617CF}" type="presParOf" srcId="{7E1741C3-428C-4C17-9EA4-C183822281B0}" destId="{4A380221-CAA3-44D3-B37D-8A87C7247478}" srcOrd="0" destOrd="0" presId="urn:microsoft.com/office/officeart/2005/8/layout/process2"/>
    <dgm:cxn modelId="{473CF826-88E7-462B-B2B2-08496106177D}" type="presParOf" srcId="{33B78D55-73AE-4F8C-ABEA-484C056A0294}" destId="{E7738C69-AB3F-48FD-A8B1-45A01517EDC6}" srcOrd="4" destOrd="0" presId="urn:microsoft.com/office/officeart/2005/8/layout/process2"/>
    <dgm:cxn modelId="{F7F62DB3-54B2-442E-A30B-88A820D92882}" type="presParOf" srcId="{33B78D55-73AE-4F8C-ABEA-484C056A0294}" destId="{AB9C0302-AC91-4382-A2F8-DA537453FE67}" srcOrd="5" destOrd="0" presId="urn:microsoft.com/office/officeart/2005/8/layout/process2"/>
    <dgm:cxn modelId="{860A66A4-63EA-4AFA-A7AD-3C91AC37467D}" type="presParOf" srcId="{AB9C0302-AC91-4382-A2F8-DA537453FE67}" destId="{1326A907-FF72-4C0B-9AAB-57E13B0767DB}" srcOrd="0" destOrd="0" presId="urn:microsoft.com/office/officeart/2005/8/layout/process2"/>
    <dgm:cxn modelId="{27ABF906-5386-4E1F-973F-53A97ED46081}" type="presParOf" srcId="{33B78D55-73AE-4F8C-ABEA-484C056A0294}" destId="{E13839F3-6B68-44E7-80F5-66A6AED38F14}" srcOrd="6" destOrd="0" presId="urn:microsoft.com/office/officeart/2005/8/layout/process2"/>
    <dgm:cxn modelId="{6408336B-0C25-4F74-9A39-8A0621757FC6}" type="presParOf" srcId="{33B78D55-73AE-4F8C-ABEA-484C056A0294}" destId="{E44557F3-4B45-4EBF-84FC-9BE57BD14C0B}" srcOrd="7" destOrd="0" presId="urn:microsoft.com/office/officeart/2005/8/layout/process2"/>
    <dgm:cxn modelId="{A2A64B86-5CF6-4CDB-B430-81D603BBDF65}" type="presParOf" srcId="{E44557F3-4B45-4EBF-84FC-9BE57BD14C0B}" destId="{08B211E3-19B9-4DC8-B3E7-A560D2543946}" srcOrd="0" destOrd="0" presId="urn:microsoft.com/office/officeart/2005/8/layout/process2"/>
    <dgm:cxn modelId="{1B5B2087-F20B-47D9-9383-309A979FF418}" type="presParOf" srcId="{33B78D55-73AE-4F8C-ABEA-484C056A0294}" destId="{2F1C2242-4242-4A92-98BB-56999FFFA9E8}" srcOrd="8" destOrd="0" presId="urn:microsoft.com/office/officeart/2005/8/layout/process2"/>
    <dgm:cxn modelId="{5F37E8B1-16E5-4A7C-9A4F-CE7587E24324}" type="presParOf" srcId="{33B78D55-73AE-4F8C-ABEA-484C056A0294}" destId="{EF8BD205-A3AA-49D2-9286-10D49A313054}" srcOrd="9" destOrd="0" presId="urn:microsoft.com/office/officeart/2005/8/layout/process2"/>
    <dgm:cxn modelId="{F81D0955-4515-44D6-89FC-8487A922D642}" type="presParOf" srcId="{EF8BD205-A3AA-49D2-9286-10D49A313054}" destId="{1542AD33-AC8D-4A32-A66A-EE19FCB96E9A}" srcOrd="0" destOrd="0" presId="urn:microsoft.com/office/officeart/2005/8/layout/process2"/>
    <dgm:cxn modelId="{69ACB7E9-E1AF-4855-9F1B-7FFC07881C8F}" type="presParOf" srcId="{33B78D55-73AE-4F8C-ABEA-484C056A0294}" destId="{B183A071-10BD-46AA-A21A-B82E94EE00BE}" srcOrd="10" destOrd="0" presId="urn:microsoft.com/office/officeart/2005/8/layout/process2"/>
    <dgm:cxn modelId="{87773A7B-BE82-4126-85F1-8034EB76F214}" type="presParOf" srcId="{33B78D55-73AE-4F8C-ABEA-484C056A0294}" destId="{C53F1371-C7EB-4CF4-AB84-C00CC6B78150}" srcOrd="11" destOrd="0" presId="urn:microsoft.com/office/officeart/2005/8/layout/process2"/>
    <dgm:cxn modelId="{9E4E8B3F-66D0-496E-AE29-C7733CF14E49}" type="presParOf" srcId="{C53F1371-C7EB-4CF4-AB84-C00CC6B78150}" destId="{8BE89C8A-B760-4FF2-A857-9178CCAF83FD}" srcOrd="0" destOrd="0" presId="urn:microsoft.com/office/officeart/2005/8/layout/process2"/>
    <dgm:cxn modelId="{39357EE1-4EA2-4295-AEA0-25BF30F25677}" type="presParOf" srcId="{33B78D55-73AE-4F8C-ABEA-484C056A0294}" destId="{E8A967C8-A6D6-4E41-9E7B-96EC685ACA3F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0EDDA4-5FC9-4642-B040-5C1AC1191A93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0BA408A-C9BF-4006-A5DC-593BF7E3A035}">
      <dgm:prSet phldrT="[Text]" phldr="0" custT="1"/>
      <dgm:spPr/>
      <dgm:t>
        <a:bodyPr/>
        <a:lstStyle/>
        <a:p>
          <a:r>
            <a:rPr lang="en-US" sz="2400" dirty="0"/>
            <a:t>Python</a:t>
          </a:r>
          <a:endParaRPr lang="en-IN" sz="2400" dirty="0"/>
        </a:p>
      </dgm:t>
    </dgm:pt>
    <dgm:pt modelId="{47404FAE-05CF-4A12-9BCF-10C6A34CB828}" type="parTrans" cxnId="{46F74C15-80F0-4249-A2B9-36A84167E2A3}">
      <dgm:prSet/>
      <dgm:spPr/>
      <dgm:t>
        <a:bodyPr/>
        <a:lstStyle/>
        <a:p>
          <a:endParaRPr lang="en-IN"/>
        </a:p>
      </dgm:t>
    </dgm:pt>
    <dgm:pt modelId="{69E00F7E-79EB-415C-A97B-8CE1D0D71040}" type="sibTrans" cxnId="{46F74C15-80F0-4249-A2B9-36A84167E2A3}">
      <dgm:prSet/>
      <dgm:spPr/>
      <dgm:t>
        <a:bodyPr/>
        <a:lstStyle/>
        <a:p>
          <a:endParaRPr lang="en-IN"/>
        </a:p>
      </dgm:t>
    </dgm:pt>
    <dgm:pt modelId="{51F8B49D-50FB-45AC-8D6C-E7E705ED5554}">
      <dgm:prSet phldrT="[Text]" phldr="0" custT="1"/>
      <dgm:spPr/>
      <dgm:t>
        <a:bodyPr/>
        <a:lstStyle/>
        <a:p>
          <a:r>
            <a:rPr lang="en-US" sz="2400" dirty="0"/>
            <a:t>Pandas</a:t>
          </a:r>
          <a:endParaRPr lang="en-IN" sz="2400" dirty="0"/>
        </a:p>
      </dgm:t>
    </dgm:pt>
    <dgm:pt modelId="{6B8D677E-10A4-4C0A-A6CD-88AE04804F58}" type="parTrans" cxnId="{21E3F067-F2F3-4794-B1D1-5A58CDB83B0E}">
      <dgm:prSet/>
      <dgm:spPr/>
      <dgm:t>
        <a:bodyPr/>
        <a:lstStyle/>
        <a:p>
          <a:endParaRPr lang="en-IN"/>
        </a:p>
      </dgm:t>
    </dgm:pt>
    <dgm:pt modelId="{C27B328E-3EA2-49B0-ADEF-B4061D308514}" type="sibTrans" cxnId="{21E3F067-F2F3-4794-B1D1-5A58CDB83B0E}">
      <dgm:prSet/>
      <dgm:spPr/>
      <dgm:t>
        <a:bodyPr/>
        <a:lstStyle/>
        <a:p>
          <a:endParaRPr lang="en-IN"/>
        </a:p>
      </dgm:t>
    </dgm:pt>
    <dgm:pt modelId="{336FF138-EF14-4615-8084-5E91EC3E8B41}">
      <dgm:prSet phldrT="[Text]" phldr="0" custT="1"/>
      <dgm:spPr/>
      <dgm:t>
        <a:bodyPr/>
        <a:lstStyle/>
        <a:p>
          <a:r>
            <a:rPr lang="en-US" sz="2400" dirty="0" err="1"/>
            <a:t>Numpy</a:t>
          </a:r>
          <a:endParaRPr lang="en-IN" sz="2400" dirty="0"/>
        </a:p>
      </dgm:t>
    </dgm:pt>
    <dgm:pt modelId="{6CED8A5E-2F92-4E9F-BD61-98C3B30B34C4}" type="parTrans" cxnId="{AD533AF4-64E5-4A05-9737-3519BCA1D141}">
      <dgm:prSet/>
      <dgm:spPr/>
      <dgm:t>
        <a:bodyPr/>
        <a:lstStyle/>
        <a:p>
          <a:endParaRPr lang="en-IN"/>
        </a:p>
      </dgm:t>
    </dgm:pt>
    <dgm:pt modelId="{4BE3BBC4-9BF0-4562-803A-7DD050C87640}" type="sibTrans" cxnId="{AD533AF4-64E5-4A05-9737-3519BCA1D141}">
      <dgm:prSet/>
      <dgm:spPr/>
      <dgm:t>
        <a:bodyPr/>
        <a:lstStyle/>
        <a:p>
          <a:endParaRPr lang="en-IN"/>
        </a:p>
      </dgm:t>
    </dgm:pt>
    <dgm:pt modelId="{8637541C-4A56-4DF1-B455-81CF603F0FFA}">
      <dgm:prSet phldrT="[Text]" phldr="0" custT="1"/>
      <dgm:spPr/>
      <dgm:t>
        <a:bodyPr/>
        <a:lstStyle/>
        <a:p>
          <a:r>
            <a:rPr lang="en-US" sz="2400" dirty="0"/>
            <a:t>SQLite</a:t>
          </a:r>
          <a:endParaRPr lang="en-IN" sz="2400" dirty="0"/>
        </a:p>
      </dgm:t>
    </dgm:pt>
    <dgm:pt modelId="{CC3AF05A-4D4F-4E03-8B2D-88A1E750F0CA}" type="parTrans" cxnId="{6CCD48EA-E074-4A65-8AE3-5C77F0098900}">
      <dgm:prSet/>
      <dgm:spPr/>
      <dgm:t>
        <a:bodyPr/>
        <a:lstStyle/>
        <a:p>
          <a:endParaRPr lang="en-IN"/>
        </a:p>
      </dgm:t>
    </dgm:pt>
    <dgm:pt modelId="{086C05C9-05F1-4199-86B9-630D19287C0F}" type="sibTrans" cxnId="{6CCD48EA-E074-4A65-8AE3-5C77F0098900}">
      <dgm:prSet/>
      <dgm:spPr/>
      <dgm:t>
        <a:bodyPr/>
        <a:lstStyle/>
        <a:p>
          <a:endParaRPr lang="en-IN"/>
        </a:p>
      </dgm:t>
    </dgm:pt>
    <dgm:pt modelId="{B0BD82D8-2EDE-4C5E-9604-2CFDB049B778}">
      <dgm:prSet phldrT="[Text]" phldr="0" custT="1"/>
      <dgm:spPr/>
      <dgm:t>
        <a:bodyPr/>
        <a:lstStyle/>
        <a:p>
          <a:r>
            <a:rPr lang="en-US" sz="2400" dirty="0" err="1"/>
            <a:t>Jupyter</a:t>
          </a:r>
          <a:r>
            <a:rPr lang="en-US" sz="2400" dirty="0"/>
            <a:t> Notebook</a:t>
          </a:r>
          <a:endParaRPr lang="en-IN" sz="2400" dirty="0"/>
        </a:p>
      </dgm:t>
    </dgm:pt>
    <dgm:pt modelId="{BDBD3B62-6D82-4C51-AE87-A4FB842411D7}" type="parTrans" cxnId="{C103FE06-CA38-4073-A2C3-F39E56D62C22}">
      <dgm:prSet/>
      <dgm:spPr/>
      <dgm:t>
        <a:bodyPr/>
        <a:lstStyle/>
        <a:p>
          <a:endParaRPr lang="en-IN"/>
        </a:p>
      </dgm:t>
    </dgm:pt>
    <dgm:pt modelId="{A2B9592D-A491-4749-B5E5-3A7328E3DD46}" type="sibTrans" cxnId="{C103FE06-CA38-4073-A2C3-F39E56D62C22}">
      <dgm:prSet/>
      <dgm:spPr/>
      <dgm:t>
        <a:bodyPr/>
        <a:lstStyle/>
        <a:p>
          <a:endParaRPr lang="en-IN"/>
        </a:p>
      </dgm:t>
    </dgm:pt>
    <dgm:pt modelId="{4F7F4611-96D8-4EA2-9F8E-D2AA801F4409}">
      <dgm:prSet phldrT="[Text]" phldr="0" custT="1"/>
      <dgm:spPr/>
      <dgm:t>
        <a:bodyPr/>
        <a:lstStyle/>
        <a:p>
          <a:r>
            <a:rPr lang="en-US" sz="2400" dirty="0"/>
            <a:t>Power BI</a:t>
          </a:r>
          <a:endParaRPr lang="en-IN" sz="2400" dirty="0"/>
        </a:p>
      </dgm:t>
    </dgm:pt>
    <dgm:pt modelId="{BBCF2F2A-325B-4F25-900D-F59085C1CBCF}" type="parTrans" cxnId="{6AC5FF9B-0636-40A5-AF5B-048CDC72F401}">
      <dgm:prSet/>
      <dgm:spPr/>
      <dgm:t>
        <a:bodyPr/>
        <a:lstStyle/>
        <a:p>
          <a:endParaRPr lang="en-IN"/>
        </a:p>
      </dgm:t>
    </dgm:pt>
    <dgm:pt modelId="{D92EAB9B-DE9F-40AC-8F2B-E2336C8CFF56}" type="sibTrans" cxnId="{6AC5FF9B-0636-40A5-AF5B-048CDC72F401}">
      <dgm:prSet/>
      <dgm:spPr/>
      <dgm:t>
        <a:bodyPr/>
        <a:lstStyle/>
        <a:p>
          <a:endParaRPr lang="en-IN"/>
        </a:p>
      </dgm:t>
    </dgm:pt>
    <dgm:pt modelId="{0B7F7C71-7894-4550-8F40-87A3CFD05D41}" type="pres">
      <dgm:prSet presAssocID="{D20EDDA4-5FC9-4642-B040-5C1AC1191A93}" presName="Name0" presStyleCnt="0">
        <dgm:presLayoutVars>
          <dgm:resizeHandles/>
        </dgm:presLayoutVars>
      </dgm:prSet>
      <dgm:spPr/>
    </dgm:pt>
    <dgm:pt modelId="{DE09F2B9-074D-4F24-AE19-7DBE213FA11A}" type="pres">
      <dgm:prSet presAssocID="{40BA408A-C9BF-4006-A5DC-593BF7E3A035}" presName="text" presStyleLbl="node1" presStyleIdx="0" presStyleCnt="6" custScaleX="190201">
        <dgm:presLayoutVars>
          <dgm:bulletEnabled val="1"/>
        </dgm:presLayoutVars>
      </dgm:prSet>
      <dgm:spPr/>
    </dgm:pt>
    <dgm:pt modelId="{B2CA3E40-8192-4694-8968-F036BB3EE366}" type="pres">
      <dgm:prSet presAssocID="{69E00F7E-79EB-415C-A97B-8CE1D0D71040}" presName="space" presStyleCnt="0"/>
      <dgm:spPr/>
    </dgm:pt>
    <dgm:pt modelId="{A907E124-60F6-4C02-A2C2-E87E6308E710}" type="pres">
      <dgm:prSet presAssocID="{51F8B49D-50FB-45AC-8D6C-E7E705ED5554}" presName="text" presStyleLbl="node1" presStyleIdx="1" presStyleCnt="6" custScaleX="189516">
        <dgm:presLayoutVars>
          <dgm:bulletEnabled val="1"/>
        </dgm:presLayoutVars>
      </dgm:prSet>
      <dgm:spPr/>
    </dgm:pt>
    <dgm:pt modelId="{E87B68E3-E520-4553-889A-4CD84ABC4803}" type="pres">
      <dgm:prSet presAssocID="{C27B328E-3EA2-49B0-ADEF-B4061D308514}" presName="space" presStyleCnt="0"/>
      <dgm:spPr/>
    </dgm:pt>
    <dgm:pt modelId="{EA4F5B20-994F-486F-B436-07F1B17A9C02}" type="pres">
      <dgm:prSet presAssocID="{336FF138-EF14-4615-8084-5E91EC3E8B41}" presName="text" presStyleLbl="node1" presStyleIdx="2" presStyleCnt="6" custScaleX="186066">
        <dgm:presLayoutVars>
          <dgm:bulletEnabled val="1"/>
        </dgm:presLayoutVars>
      </dgm:prSet>
      <dgm:spPr/>
    </dgm:pt>
    <dgm:pt modelId="{B4C062A4-05B3-41EB-AA31-C25639B3ADA0}" type="pres">
      <dgm:prSet presAssocID="{4BE3BBC4-9BF0-4562-803A-7DD050C87640}" presName="space" presStyleCnt="0"/>
      <dgm:spPr/>
    </dgm:pt>
    <dgm:pt modelId="{C2E15A0A-2803-4DFB-ABE8-30E3E97F5F0B}" type="pres">
      <dgm:prSet presAssocID="{8637541C-4A56-4DF1-B455-81CF603F0FFA}" presName="text" presStyleLbl="node1" presStyleIdx="3" presStyleCnt="6" custScaleX="208757">
        <dgm:presLayoutVars>
          <dgm:bulletEnabled val="1"/>
        </dgm:presLayoutVars>
      </dgm:prSet>
      <dgm:spPr/>
    </dgm:pt>
    <dgm:pt modelId="{8ED6FE75-F27F-4015-8160-2421B08CE86D}" type="pres">
      <dgm:prSet presAssocID="{086C05C9-05F1-4199-86B9-630D19287C0F}" presName="space" presStyleCnt="0"/>
      <dgm:spPr/>
    </dgm:pt>
    <dgm:pt modelId="{D688525E-E436-44A4-ABB1-65DCB7A79F99}" type="pres">
      <dgm:prSet presAssocID="{B0BD82D8-2EDE-4C5E-9604-2CFDB049B778}" presName="text" presStyleLbl="node1" presStyleIdx="4" presStyleCnt="6" custScaleX="143677">
        <dgm:presLayoutVars>
          <dgm:bulletEnabled val="1"/>
        </dgm:presLayoutVars>
      </dgm:prSet>
      <dgm:spPr/>
    </dgm:pt>
    <dgm:pt modelId="{D201B006-45CC-4961-9301-8F3BCE82C0CC}" type="pres">
      <dgm:prSet presAssocID="{A2B9592D-A491-4749-B5E5-3A7328E3DD46}" presName="space" presStyleCnt="0"/>
      <dgm:spPr/>
    </dgm:pt>
    <dgm:pt modelId="{29BA765B-E1E6-4D93-8CEB-39F315A4F50B}" type="pres">
      <dgm:prSet presAssocID="{4F7F4611-96D8-4EA2-9F8E-D2AA801F4409}" presName="text" presStyleLbl="node1" presStyleIdx="5" presStyleCnt="6" custScaleX="210259">
        <dgm:presLayoutVars>
          <dgm:bulletEnabled val="1"/>
        </dgm:presLayoutVars>
      </dgm:prSet>
      <dgm:spPr/>
    </dgm:pt>
  </dgm:ptLst>
  <dgm:cxnLst>
    <dgm:cxn modelId="{1C0DFA04-9C58-4B1D-AFFC-5F44807363D4}" type="presOf" srcId="{4F7F4611-96D8-4EA2-9F8E-D2AA801F4409}" destId="{29BA765B-E1E6-4D93-8CEB-39F315A4F50B}" srcOrd="0" destOrd="0" presId="urn:diagrams.loki3.com/VaryingWidthList"/>
    <dgm:cxn modelId="{C103FE06-CA38-4073-A2C3-F39E56D62C22}" srcId="{D20EDDA4-5FC9-4642-B040-5C1AC1191A93}" destId="{B0BD82D8-2EDE-4C5E-9604-2CFDB049B778}" srcOrd="4" destOrd="0" parTransId="{BDBD3B62-6D82-4C51-AE87-A4FB842411D7}" sibTransId="{A2B9592D-A491-4749-B5E5-3A7328E3DD46}"/>
    <dgm:cxn modelId="{7DB7690F-7C90-46FE-8BAD-D015AA26329F}" type="presOf" srcId="{336FF138-EF14-4615-8084-5E91EC3E8B41}" destId="{EA4F5B20-994F-486F-B436-07F1B17A9C02}" srcOrd="0" destOrd="0" presId="urn:diagrams.loki3.com/VaryingWidthList"/>
    <dgm:cxn modelId="{46F74C15-80F0-4249-A2B9-36A84167E2A3}" srcId="{D20EDDA4-5FC9-4642-B040-5C1AC1191A93}" destId="{40BA408A-C9BF-4006-A5DC-593BF7E3A035}" srcOrd="0" destOrd="0" parTransId="{47404FAE-05CF-4A12-9BCF-10C6A34CB828}" sibTransId="{69E00F7E-79EB-415C-A97B-8CE1D0D71040}"/>
    <dgm:cxn modelId="{1F02A53F-028D-40CA-85D8-3002CB38FD2F}" type="presOf" srcId="{51F8B49D-50FB-45AC-8D6C-E7E705ED5554}" destId="{A907E124-60F6-4C02-A2C2-E87E6308E710}" srcOrd="0" destOrd="0" presId="urn:diagrams.loki3.com/VaryingWidthList"/>
    <dgm:cxn modelId="{C68D1063-A743-4C5A-B9BE-CA7C60826C22}" type="presOf" srcId="{40BA408A-C9BF-4006-A5DC-593BF7E3A035}" destId="{DE09F2B9-074D-4F24-AE19-7DBE213FA11A}" srcOrd="0" destOrd="0" presId="urn:diagrams.loki3.com/VaryingWidthList"/>
    <dgm:cxn modelId="{0BB12666-414D-4329-A960-6D57761CE2A9}" type="presOf" srcId="{8637541C-4A56-4DF1-B455-81CF603F0FFA}" destId="{C2E15A0A-2803-4DFB-ABE8-30E3E97F5F0B}" srcOrd="0" destOrd="0" presId="urn:diagrams.loki3.com/VaryingWidthList"/>
    <dgm:cxn modelId="{21E3F067-F2F3-4794-B1D1-5A58CDB83B0E}" srcId="{D20EDDA4-5FC9-4642-B040-5C1AC1191A93}" destId="{51F8B49D-50FB-45AC-8D6C-E7E705ED5554}" srcOrd="1" destOrd="0" parTransId="{6B8D677E-10A4-4C0A-A6CD-88AE04804F58}" sibTransId="{C27B328E-3EA2-49B0-ADEF-B4061D308514}"/>
    <dgm:cxn modelId="{726C5369-AEF3-42E9-A18C-24F4CD5CDCFD}" type="presOf" srcId="{D20EDDA4-5FC9-4642-B040-5C1AC1191A93}" destId="{0B7F7C71-7894-4550-8F40-87A3CFD05D41}" srcOrd="0" destOrd="0" presId="urn:diagrams.loki3.com/VaryingWidthList"/>
    <dgm:cxn modelId="{77BF2E74-5BB5-42C2-8A66-3A1E286AD105}" type="presOf" srcId="{B0BD82D8-2EDE-4C5E-9604-2CFDB049B778}" destId="{D688525E-E436-44A4-ABB1-65DCB7A79F99}" srcOrd="0" destOrd="0" presId="urn:diagrams.loki3.com/VaryingWidthList"/>
    <dgm:cxn modelId="{6AC5FF9B-0636-40A5-AF5B-048CDC72F401}" srcId="{D20EDDA4-5FC9-4642-B040-5C1AC1191A93}" destId="{4F7F4611-96D8-4EA2-9F8E-D2AA801F4409}" srcOrd="5" destOrd="0" parTransId="{BBCF2F2A-325B-4F25-900D-F59085C1CBCF}" sibTransId="{D92EAB9B-DE9F-40AC-8F2B-E2336C8CFF56}"/>
    <dgm:cxn modelId="{6CCD48EA-E074-4A65-8AE3-5C77F0098900}" srcId="{D20EDDA4-5FC9-4642-B040-5C1AC1191A93}" destId="{8637541C-4A56-4DF1-B455-81CF603F0FFA}" srcOrd="3" destOrd="0" parTransId="{CC3AF05A-4D4F-4E03-8B2D-88A1E750F0CA}" sibTransId="{086C05C9-05F1-4199-86B9-630D19287C0F}"/>
    <dgm:cxn modelId="{AD533AF4-64E5-4A05-9737-3519BCA1D141}" srcId="{D20EDDA4-5FC9-4642-B040-5C1AC1191A93}" destId="{336FF138-EF14-4615-8084-5E91EC3E8B41}" srcOrd="2" destOrd="0" parTransId="{6CED8A5E-2F92-4E9F-BD61-98C3B30B34C4}" sibTransId="{4BE3BBC4-9BF0-4562-803A-7DD050C87640}"/>
    <dgm:cxn modelId="{E6B02639-8509-499B-AE07-79794204A179}" type="presParOf" srcId="{0B7F7C71-7894-4550-8F40-87A3CFD05D41}" destId="{DE09F2B9-074D-4F24-AE19-7DBE213FA11A}" srcOrd="0" destOrd="0" presId="urn:diagrams.loki3.com/VaryingWidthList"/>
    <dgm:cxn modelId="{3BB28401-7821-4E6E-BCDB-5476F1E45CCC}" type="presParOf" srcId="{0B7F7C71-7894-4550-8F40-87A3CFD05D41}" destId="{B2CA3E40-8192-4694-8968-F036BB3EE366}" srcOrd="1" destOrd="0" presId="urn:diagrams.loki3.com/VaryingWidthList"/>
    <dgm:cxn modelId="{551D8867-7674-4AEF-B889-2B5DFC155CEB}" type="presParOf" srcId="{0B7F7C71-7894-4550-8F40-87A3CFD05D41}" destId="{A907E124-60F6-4C02-A2C2-E87E6308E710}" srcOrd="2" destOrd="0" presId="urn:diagrams.loki3.com/VaryingWidthList"/>
    <dgm:cxn modelId="{507059E3-1F70-467E-8B9A-54936C035DB5}" type="presParOf" srcId="{0B7F7C71-7894-4550-8F40-87A3CFD05D41}" destId="{E87B68E3-E520-4553-889A-4CD84ABC4803}" srcOrd="3" destOrd="0" presId="urn:diagrams.loki3.com/VaryingWidthList"/>
    <dgm:cxn modelId="{28CEF42F-A5F9-4A52-9578-D4C89D1C611C}" type="presParOf" srcId="{0B7F7C71-7894-4550-8F40-87A3CFD05D41}" destId="{EA4F5B20-994F-486F-B436-07F1B17A9C02}" srcOrd="4" destOrd="0" presId="urn:diagrams.loki3.com/VaryingWidthList"/>
    <dgm:cxn modelId="{ACD7030C-95F4-4E29-BDD5-EB5966200543}" type="presParOf" srcId="{0B7F7C71-7894-4550-8F40-87A3CFD05D41}" destId="{B4C062A4-05B3-41EB-AA31-C25639B3ADA0}" srcOrd="5" destOrd="0" presId="urn:diagrams.loki3.com/VaryingWidthList"/>
    <dgm:cxn modelId="{0CF85E88-8F87-4054-AA44-54F53900C5E3}" type="presParOf" srcId="{0B7F7C71-7894-4550-8F40-87A3CFD05D41}" destId="{C2E15A0A-2803-4DFB-ABE8-30E3E97F5F0B}" srcOrd="6" destOrd="0" presId="urn:diagrams.loki3.com/VaryingWidthList"/>
    <dgm:cxn modelId="{580DAD9D-16CB-4748-B53B-02F119FF8B0F}" type="presParOf" srcId="{0B7F7C71-7894-4550-8F40-87A3CFD05D41}" destId="{8ED6FE75-F27F-4015-8160-2421B08CE86D}" srcOrd="7" destOrd="0" presId="urn:diagrams.loki3.com/VaryingWidthList"/>
    <dgm:cxn modelId="{1DF73718-F275-4014-B1F5-45F33D6587FD}" type="presParOf" srcId="{0B7F7C71-7894-4550-8F40-87A3CFD05D41}" destId="{D688525E-E436-44A4-ABB1-65DCB7A79F99}" srcOrd="8" destOrd="0" presId="urn:diagrams.loki3.com/VaryingWidthList"/>
    <dgm:cxn modelId="{093559F5-DC11-4034-917B-0A73DF04F8D8}" type="presParOf" srcId="{0B7F7C71-7894-4550-8F40-87A3CFD05D41}" destId="{D201B006-45CC-4961-9301-8F3BCE82C0CC}" srcOrd="9" destOrd="0" presId="urn:diagrams.loki3.com/VaryingWidthList"/>
    <dgm:cxn modelId="{ED049A04-D2DF-48FE-8A8A-05C8753227F8}" type="presParOf" srcId="{0B7F7C71-7894-4550-8F40-87A3CFD05D41}" destId="{29BA765B-E1E6-4D93-8CEB-39F315A4F50B}" srcOrd="1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A9A5A8-8B05-4BCA-B656-11CFA2BFA714}">
      <dsp:nvSpPr>
        <dsp:cNvPr id="0" name=""/>
        <dsp:cNvSpPr/>
      </dsp:nvSpPr>
      <dsp:spPr>
        <a:xfrm>
          <a:off x="2236316" y="2843"/>
          <a:ext cx="1252758" cy="4157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Collection</a:t>
          </a:r>
          <a:endParaRPr lang="en-IN" sz="1200" kern="1200" dirty="0"/>
        </a:p>
      </dsp:txBody>
      <dsp:txXfrm>
        <a:off x="2248494" y="15021"/>
        <a:ext cx="1228402" cy="391427"/>
      </dsp:txXfrm>
    </dsp:sp>
    <dsp:sp modelId="{AFC98155-F754-4C92-BEC4-8A41816ECBD1}">
      <dsp:nvSpPr>
        <dsp:cNvPr id="0" name=""/>
        <dsp:cNvSpPr/>
      </dsp:nvSpPr>
      <dsp:spPr>
        <a:xfrm rot="5400000">
          <a:off x="2725992" y="566117"/>
          <a:ext cx="273405" cy="2271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794546" y="542997"/>
        <a:ext cx="136298" cy="205256"/>
      </dsp:txXfrm>
    </dsp:sp>
    <dsp:sp modelId="{C831625E-3777-438F-9597-BB85EB3434CD}">
      <dsp:nvSpPr>
        <dsp:cNvPr id="0" name=""/>
        <dsp:cNvSpPr/>
      </dsp:nvSpPr>
      <dsp:spPr>
        <a:xfrm>
          <a:off x="2297764" y="940772"/>
          <a:ext cx="1129862" cy="312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Cleaning</a:t>
          </a:r>
          <a:endParaRPr lang="en-IN" sz="1200" kern="1200" dirty="0"/>
        </a:p>
      </dsp:txBody>
      <dsp:txXfrm>
        <a:off x="2306923" y="949931"/>
        <a:ext cx="1111544" cy="294394"/>
      </dsp:txXfrm>
    </dsp:sp>
    <dsp:sp modelId="{7E1741C3-428C-4C17-9EA4-C183822281B0}">
      <dsp:nvSpPr>
        <dsp:cNvPr id="0" name=""/>
        <dsp:cNvSpPr/>
      </dsp:nvSpPr>
      <dsp:spPr>
        <a:xfrm rot="5400000">
          <a:off x="2706054" y="1397546"/>
          <a:ext cx="313282" cy="23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792489" y="1357915"/>
        <a:ext cx="140412" cy="243076"/>
      </dsp:txXfrm>
    </dsp:sp>
    <dsp:sp modelId="{E7738C69-AB3F-48FD-A8B1-45A01517EDC6}">
      <dsp:nvSpPr>
        <dsp:cNvPr id="0" name=""/>
        <dsp:cNvSpPr/>
      </dsp:nvSpPr>
      <dsp:spPr>
        <a:xfrm>
          <a:off x="2142593" y="1775629"/>
          <a:ext cx="1440204" cy="3382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SQLite Database</a:t>
          </a:r>
          <a:endParaRPr lang="en-IN" sz="1200" kern="1200" dirty="0"/>
        </a:p>
      </dsp:txBody>
      <dsp:txXfrm>
        <a:off x="2152500" y="1785536"/>
        <a:ext cx="1420390" cy="318441"/>
      </dsp:txXfrm>
    </dsp:sp>
    <dsp:sp modelId="{AB9C0302-AC91-4382-A2F8-DA537453FE67}">
      <dsp:nvSpPr>
        <dsp:cNvPr id="0" name=""/>
        <dsp:cNvSpPr/>
      </dsp:nvSpPr>
      <dsp:spPr>
        <a:xfrm rot="5400000">
          <a:off x="2666891" y="2257947"/>
          <a:ext cx="391608" cy="234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792489" y="2179153"/>
        <a:ext cx="140412" cy="321402"/>
      </dsp:txXfrm>
    </dsp:sp>
    <dsp:sp modelId="{E13839F3-6B68-44E7-80F5-66A6AED38F14}">
      <dsp:nvSpPr>
        <dsp:cNvPr id="0" name=""/>
        <dsp:cNvSpPr/>
      </dsp:nvSpPr>
      <dsp:spPr>
        <a:xfrm>
          <a:off x="2492033" y="2636029"/>
          <a:ext cx="741324" cy="302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EDA</a:t>
          </a:r>
          <a:endParaRPr lang="en-IN" sz="1200" kern="1200" dirty="0"/>
        </a:p>
      </dsp:txBody>
      <dsp:txXfrm>
        <a:off x="2500889" y="2644885"/>
        <a:ext cx="723612" cy="284662"/>
      </dsp:txXfrm>
    </dsp:sp>
    <dsp:sp modelId="{E44557F3-4B45-4EBF-84FC-9BE57BD14C0B}">
      <dsp:nvSpPr>
        <dsp:cNvPr id="0" name=""/>
        <dsp:cNvSpPr/>
      </dsp:nvSpPr>
      <dsp:spPr>
        <a:xfrm rot="5400000">
          <a:off x="2712245" y="3029673"/>
          <a:ext cx="300900" cy="339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760814" y="3049025"/>
        <a:ext cx="203762" cy="210630"/>
      </dsp:txXfrm>
    </dsp:sp>
    <dsp:sp modelId="{2F1C2242-4242-4A92-98BB-56999FFFA9E8}">
      <dsp:nvSpPr>
        <dsp:cNvPr id="0" name=""/>
        <dsp:cNvSpPr/>
      </dsp:nvSpPr>
      <dsp:spPr>
        <a:xfrm>
          <a:off x="2267256" y="3460548"/>
          <a:ext cx="1190878" cy="5967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Performance Analytics</a:t>
          </a:r>
          <a:endParaRPr lang="en-IN" sz="1200" kern="1200" dirty="0"/>
        </a:p>
      </dsp:txBody>
      <dsp:txXfrm>
        <a:off x="2284733" y="3478025"/>
        <a:ext cx="1155924" cy="561752"/>
      </dsp:txXfrm>
    </dsp:sp>
    <dsp:sp modelId="{EF8BD205-A3AA-49D2-9286-10D49A313054}">
      <dsp:nvSpPr>
        <dsp:cNvPr id="0" name=""/>
        <dsp:cNvSpPr/>
      </dsp:nvSpPr>
      <dsp:spPr>
        <a:xfrm rot="5379686">
          <a:off x="2626501" y="4209457"/>
          <a:ext cx="362925" cy="2782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724246" y="4167113"/>
        <a:ext cx="166942" cy="279454"/>
      </dsp:txXfrm>
    </dsp:sp>
    <dsp:sp modelId="{B183A071-10BD-46AA-A21A-B82E94EE00BE}">
      <dsp:nvSpPr>
        <dsp:cNvPr id="0" name=""/>
        <dsp:cNvSpPr/>
      </dsp:nvSpPr>
      <dsp:spPr>
        <a:xfrm>
          <a:off x="2037225" y="4619040"/>
          <a:ext cx="1573570" cy="3287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Advanced Analytics</a:t>
          </a:r>
          <a:endParaRPr lang="en-IN" sz="1200" kern="1200" dirty="0"/>
        </a:p>
      </dsp:txBody>
      <dsp:txXfrm>
        <a:off x="2046853" y="4628668"/>
        <a:ext cx="1554314" cy="309454"/>
      </dsp:txXfrm>
    </dsp:sp>
    <dsp:sp modelId="{C53F1371-C7EB-4CF4-AB84-C00CC6B78150}">
      <dsp:nvSpPr>
        <dsp:cNvPr id="0" name=""/>
        <dsp:cNvSpPr/>
      </dsp:nvSpPr>
      <dsp:spPr>
        <a:xfrm rot="5398351">
          <a:off x="2659516" y="5000397"/>
          <a:ext cx="368736" cy="3772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730694" y="5004636"/>
        <a:ext cx="226327" cy="258115"/>
      </dsp:txXfrm>
    </dsp:sp>
    <dsp:sp modelId="{E8A967C8-A6D6-4E41-9E7B-96EC685ACA3F}">
      <dsp:nvSpPr>
        <dsp:cNvPr id="0" name=""/>
        <dsp:cNvSpPr/>
      </dsp:nvSpPr>
      <dsp:spPr>
        <a:xfrm>
          <a:off x="2127329" y="5430255"/>
          <a:ext cx="1470731" cy="2853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Power BI Dashboard</a:t>
          </a:r>
          <a:endParaRPr lang="en-IN" sz="1200" kern="1200" dirty="0"/>
        </a:p>
      </dsp:txBody>
      <dsp:txXfrm>
        <a:off x="2135687" y="5438613"/>
        <a:ext cx="1454015" cy="2686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9F2B9-074D-4F24-AE19-7DBE213FA11A}">
      <dsp:nvSpPr>
        <dsp:cNvPr id="0" name=""/>
        <dsp:cNvSpPr/>
      </dsp:nvSpPr>
      <dsp:spPr>
        <a:xfrm>
          <a:off x="3101107" y="1488"/>
          <a:ext cx="1925785" cy="866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Python</a:t>
          </a:r>
          <a:endParaRPr lang="en-IN" sz="2400" kern="1200" dirty="0"/>
        </a:p>
      </dsp:txBody>
      <dsp:txXfrm>
        <a:off x="3101107" y="1488"/>
        <a:ext cx="1925785" cy="866510"/>
      </dsp:txXfrm>
    </dsp:sp>
    <dsp:sp modelId="{A907E124-60F6-4C02-A2C2-E87E6308E710}">
      <dsp:nvSpPr>
        <dsp:cNvPr id="0" name=""/>
        <dsp:cNvSpPr/>
      </dsp:nvSpPr>
      <dsp:spPr>
        <a:xfrm>
          <a:off x="3104575" y="911324"/>
          <a:ext cx="1918849" cy="866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Pandas</a:t>
          </a:r>
          <a:endParaRPr lang="en-IN" sz="2400" kern="1200" dirty="0"/>
        </a:p>
      </dsp:txBody>
      <dsp:txXfrm>
        <a:off x="3104575" y="911324"/>
        <a:ext cx="1918849" cy="866510"/>
      </dsp:txXfrm>
    </dsp:sp>
    <dsp:sp modelId="{EA4F5B20-994F-486F-B436-07F1B17A9C02}">
      <dsp:nvSpPr>
        <dsp:cNvPr id="0" name=""/>
        <dsp:cNvSpPr/>
      </dsp:nvSpPr>
      <dsp:spPr>
        <a:xfrm>
          <a:off x="3101108" y="1821160"/>
          <a:ext cx="1925783" cy="866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Numpy</a:t>
          </a:r>
          <a:endParaRPr lang="en-IN" sz="2400" kern="1200" dirty="0"/>
        </a:p>
      </dsp:txBody>
      <dsp:txXfrm>
        <a:off x="3101108" y="1821160"/>
        <a:ext cx="1925783" cy="866510"/>
      </dsp:txXfrm>
    </dsp:sp>
    <dsp:sp modelId="{C2E15A0A-2803-4DFB-ABE8-30E3E97F5F0B}">
      <dsp:nvSpPr>
        <dsp:cNvPr id="0" name=""/>
        <dsp:cNvSpPr/>
      </dsp:nvSpPr>
      <dsp:spPr>
        <a:xfrm>
          <a:off x="3101108" y="2730996"/>
          <a:ext cx="1925783" cy="866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SQLite</a:t>
          </a:r>
          <a:endParaRPr lang="en-IN" sz="2400" kern="1200" dirty="0"/>
        </a:p>
      </dsp:txBody>
      <dsp:txXfrm>
        <a:off x="3101108" y="2730996"/>
        <a:ext cx="1925783" cy="866510"/>
      </dsp:txXfrm>
    </dsp:sp>
    <dsp:sp modelId="{D688525E-E436-44A4-ABB1-65DCB7A79F99}">
      <dsp:nvSpPr>
        <dsp:cNvPr id="0" name=""/>
        <dsp:cNvSpPr/>
      </dsp:nvSpPr>
      <dsp:spPr>
        <a:xfrm>
          <a:off x="3094180" y="3640832"/>
          <a:ext cx="1939639" cy="866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Jupyter</a:t>
          </a:r>
          <a:r>
            <a:rPr lang="en-US" sz="2400" kern="1200" dirty="0"/>
            <a:t> Notebook</a:t>
          </a:r>
          <a:endParaRPr lang="en-IN" sz="2400" kern="1200" dirty="0"/>
        </a:p>
      </dsp:txBody>
      <dsp:txXfrm>
        <a:off x="3094180" y="3640832"/>
        <a:ext cx="1939639" cy="866510"/>
      </dsp:txXfrm>
    </dsp:sp>
    <dsp:sp modelId="{29BA765B-E1E6-4D93-8CEB-39F315A4F50B}">
      <dsp:nvSpPr>
        <dsp:cNvPr id="0" name=""/>
        <dsp:cNvSpPr/>
      </dsp:nvSpPr>
      <dsp:spPr>
        <a:xfrm>
          <a:off x="3094180" y="4550668"/>
          <a:ext cx="1939639" cy="8665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Power BI</a:t>
          </a:r>
          <a:endParaRPr lang="en-IN" sz="2400" kern="1200" dirty="0"/>
        </a:p>
      </dsp:txBody>
      <dsp:txXfrm>
        <a:off x="3094180" y="4550668"/>
        <a:ext cx="1939639" cy="8665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07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0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38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25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2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02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680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97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82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345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455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35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059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36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792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08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20E6A07-7FCC-4A00-BE2F-EAC46BF42516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7DDDD2C-901E-4BA0-9D2E-52D10611B3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254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https://github.com/ayushijraj/mutual-fund-analytics-platform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6A980-358A-8A75-035B-BF1242B1E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05247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/>
              <a:t>Mutual Fund Analytics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04242-5590-675F-5583-CCE2ED52D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3164" y="2888673"/>
            <a:ext cx="9570027" cy="3377044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/>
              <a:t>Capstone Project | </a:t>
            </a:r>
            <a:r>
              <a:rPr lang="en-IN" sz="2400" b="1" dirty="0" err="1"/>
              <a:t>Bluestock</a:t>
            </a:r>
            <a:r>
              <a:rPr lang="en-IN" sz="2400" b="1" dirty="0"/>
              <a:t> Fintech </a:t>
            </a:r>
            <a:r>
              <a:rPr lang="en-IN" sz="2400" b="1" dirty="0" err="1"/>
              <a:t>Pvt.</a:t>
            </a:r>
            <a:r>
              <a:rPr lang="en-IN" sz="2400" b="1" dirty="0"/>
              <a:t> Ltd.</a:t>
            </a:r>
            <a:endParaRPr lang="en-IN" sz="2400" dirty="0"/>
          </a:p>
          <a:p>
            <a:pPr algn="ctr"/>
            <a:r>
              <a:rPr lang="en-IN" sz="2400" b="1" dirty="0"/>
              <a:t>Presented By:</a:t>
            </a:r>
            <a:br>
              <a:rPr lang="en-IN" sz="2400" dirty="0"/>
            </a:br>
            <a:r>
              <a:rPr lang="en-IN" sz="2400" dirty="0"/>
              <a:t>Ayushi Jaiswal</a:t>
            </a:r>
          </a:p>
          <a:p>
            <a:pPr algn="ctr"/>
            <a:r>
              <a:rPr lang="en-IN" sz="2400" b="1" dirty="0"/>
              <a:t>Role:</a:t>
            </a:r>
            <a:br>
              <a:rPr lang="en-IN" sz="2400" dirty="0"/>
            </a:br>
            <a:r>
              <a:rPr lang="en-IN" sz="2400" dirty="0"/>
              <a:t>Data Analyst Intern</a:t>
            </a:r>
          </a:p>
          <a:p>
            <a:pPr algn="ctr"/>
            <a:r>
              <a:rPr lang="en-IN" sz="2400" b="1" dirty="0"/>
              <a:t>Technologies Used:</a:t>
            </a:r>
            <a:br>
              <a:rPr lang="en-IN" sz="2400" dirty="0"/>
            </a:br>
            <a:r>
              <a:rPr lang="en-IN" sz="2400" dirty="0"/>
              <a:t>Python • SQL • SQLite • Power BI • Pandas</a:t>
            </a:r>
          </a:p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0733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B76C-644A-D2A2-E67E-843782CB4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334992" cy="1066801"/>
          </a:xfrm>
        </p:spPr>
        <p:txBody>
          <a:bodyPr/>
          <a:lstStyle/>
          <a:p>
            <a:pPr algn="ctr"/>
            <a:r>
              <a:rPr lang="en-IN" b="1" dirty="0"/>
              <a:t>Project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62BF2-A5AA-94C2-0596-A97F22960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018" y="1226128"/>
            <a:ext cx="10972800" cy="5372099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/>
              <a:t>Objective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dirty="0"/>
              <a:t>Develop an end-to-end mutual fund analytics platform to: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dirty="0"/>
              <a:t>Analyze mutual fund performance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dirty="0"/>
              <a:t>Track investor behavior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dirty="0"/>
              <a:t>Evaluate risk and returns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dirty="0"/>
              <a:t>Generate actionable investment insights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dirty="0"/>
              <a:t>Build interactive dashboards for decision-making </a:t>
            </a:r>
          </a:p>
          <a:p>
            <a:pPr algn="just"/>
            <a:r>
              <a:rPr lang="en-US" sz="2800" b="1" dirty="0"/>
              <a:t>Business Goal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cap="none" dirty="0"/>
              <a:t>Help investors and analysts make data-driven investment decisions.</a:t>
            </a:r>
          </a:p>
          <a:p>
            <a:pPr algn="just"/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98303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3807-4B6C-41C1-A54D-24350AE04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5268191" cy="1066801"/>
          </a:xfrm>
        </p:spPr>
        <p:txBody>
          <a:bodyPr/>
          <a:lstStyle/>
          <a:p>
            <a:pPr algn="ctr"/>
            <a:r>
              <a:rPr lang="en-IN" b="1" dirty="0"/>
              <a:t>Data Sources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BC6D9-1EA0-3848-FFFC-6761CED0D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9" y="1184564"/>
            <a:ext cx="4925291" cy="3293918"/>
          </a:xfrm>
        </p:spPr>
        <p:txBody>
          <a:bodyPr>
            <a:normAutofit/>
          </a:bodyPr>
          <a:lstStyle/>
          <a:p>
            <a:pPr algn="just"/>
            <a:r>
              <a:rPr lang="en-IN" sz="2800" b="1" dirty="0"/>
              <a:t>Data Sources Used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cap="none" dirty="0"/>
              <a:t>AMFI </a:t>
            </a:r>
            <a:r>
              <a:rPr lang="en-IN" sz="2400" cap="none" dirty="0" err="1"/>
              <a:t>india</a:t>
            </a:r>
            <a:r>
              <a:rPr lang="en-IN" sz="2400" cap="none" dirty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cap="none" dirty="0"/>
              <a:t>MFAPI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cap="none" dirty="0"/>
              <a:t>Benchmark index data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cap="none" dirty="0"/>
              <a:t>Investor transaction data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cap="none" dirty="0"/>
              <a:t>Portfolio holdings data</a:t>
            </a:r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2012C8-D6D8-3B40-DF41-3F2A2D0BC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90528"/>
              </p:ext>
            </p:extLst>
          </p:nvPr>
        </p:nvGraphicFramePr>
        <p:xfrm>
          <a:off x="5972217" y="1797839"/>
          <a:ext cx="7300438" cy="3417912"/>
        </p:xfrm>
        <a:graphic>
          <a:graphicData uri="http://schemas.openxmlformats.org/drawingml/2006/table">
            <a:tbl>
              <a:tblPr/>
              <a:tblGrid>
                <a:gridCol w="2193163">
                  <a:extLst>
                    <a:ext uri="{9D8B030D-6E8A-4147-A177-3AD203B41FA5}">
                      <a16:colId xmlns:a16="http://schemas.microsoft.com/office/drawing/2014/main" val="3752903025"/>
                    </a:ext>
                  </a:extLst>
                </a:gridCol>
                <a:gridCol w="5107275">
                  <a:extLst>
                    <a:ext uri="{9D8B030D-6E8A-4147-A177-3AD203B41FA5}">
                      <a16:colId xmlns:a16="http://schemas.microsoft.com/office/drawing/2014/main" val="1320822534"/>
                    </a:ext>
                  </a:extLst>
                </a:gridCol>
              </a:tblGrid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155219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Fund Master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Fund metadata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27051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NAV 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Historical NAV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047521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AUM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Asset growth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701481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SIP Inflows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Investment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68205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Investor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Investor 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721726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Benchmark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Performance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042453"/>
                  </a:ext>
                </a:extLst>
              </a:tr>
              <a:tr h="427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Portfolio Holdings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Concentration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589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2B5161E-47F3-6AF8-2B52-8DE995123F30}"/>
              </a:ext>
            </a:extLst>
          </p:cNvPr>
          <p:cNvSpPr txBox="1"/>
          <p:nvPr/>
        </p:nvSpPr>
        <p:spPr>
          <a:xfrm>
            <a:off x="5972217" y="1181101"/>
            <a:ext cx="3054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Datasets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2543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F8A28-F4BA-2B85-F80A-73789C73D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" y="0"/>
            <a:ext cx="6234544" cy="845127"/>
          </a:xfrm>
        </p:spPr>
        <p:txBody>
          <a:bodyPr>
            <a:noAutofit/>
          </a:bodyPr>
          <a:lstStyle/>
          <a:p>
            <a:r>
              <a:rPr lang="en-IN" sz="4800" b="1" dirty="0"/>
              <a:t>Project Architecture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79B19C1-F74E-EA21-C202-94CB228FF9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5408687"/>
              </p:ext>
            </p:extLst>
          </p:nvPr>
        </p:nvGraphicFramePr>
        <p:xfrm>
          <a:off x="247648" y="960298"/>
          <a:ext cx="5725391" cy="5718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DA65D8-C50F-B54C-E1AC-4833D3A9167F}"/>
              </a:ext>
            </a:extLst>
          </p:cNvPr>
          <p:cNvSpPr txBox="1"/>
          <p:nvPr/>
        </p:nvSpPr>
        <p:spPr>
          <a:xfrm>
            <a:off x="7245929" y="674364"/>
            <a:ext cx="28436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b="1" dirty="0">
                <a:latin typeface="Calibri Light (Headings)"/>
              </a:rPr>
              <a:t>Tools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FB75DD-5902-B510-2BAA-CCE74E38A0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3711072"/>
              </p:ext>
            </p:extLst>
          </p:nvPr>
        </p:nvGraphicFramePr>
        <p:xfrm>
          <a:off x="4671292" y="14358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96446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DAA8-9B5A-FED7-FA0F-64A37723E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8146473" cy="935182"/>
          </a:xfrm>
        </p:spPr>
        <p:txBody>
          <a:bodyPr/>
          <a:lstStyle/>
          <a:p>
            <a:pPr algn="ctr"/>
            <a:r>
              <a:rPr lang="en-IN" b="1" dirty="0"/>
              <a:t>Exploratory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EDB13-C596-2587-1B81-A10B78F9E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633" y="952660"/>
            <a:ext cx="4145973" cy="5642263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800" b="1" dirty="0"/>
              <a:t>Key Analyses -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cap="none" dirty="0"/>
              <a:t>Industry AUM trends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cap="none" dirty="0"/>
              <a:t>SIP growth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cap="none" dirty="0"/>
              <a:t>Fund category distribution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cap="none" dirty="0"/>
              <a:t>Investor demographics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cap="none" dirty="0"/>
              <a:t>State-wise transactions </a:t>
            </a:r>
          </a:p>
          <a:p>
            <a:pPr algn="l"/>
            <a:r>
              <a:rPr lang="en-US" sz="2800" b="1" dirty="0"/>
              <a:t>Outcomes -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Identified major fund categories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Observed transaction trends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Analyzed investor participation</a:t>
            </a:r>
          </a:p>
          <a:p>
            <a:pPr algn="l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AC48FA-4EDB-5DB9-2134-8EDCEF98F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606" y="935181"/>
            <a:ext cx="7318156" cy="25769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814972-7F64-5E11-E23D-E501CE5CA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606" y="3773792"/>
            <a:ext cx="7318156" cy="258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2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E012-304B-2A14-76B1-705DFB327B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50804"/>
            <a:ext cx="8354291" cy="1015997"/>
          </a:xfrm>
        </p:spPr>
        <p:txBody>
          <a:bodyPr/>
          <a:lstStyle/>
          <a:p>
            <a:pPr algn="ctr"/>
            <a:r>
              <a:rPr lang="en-US" b="1" dirty="0"/>
              <a:t>Fund Performance Analytics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A7ACF-0A38-A378-21F2-435E54E6E6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444" y="1216505"/>
            <a:ext cx="4662056" cy="3958168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800" b="1" dirty="0"/>
              <a:t>Metrics Computed</a:t>
            </a:r>
          </a:p>
          <a:p>
            <a:pPr algn="l"/>
            <a:r>
              <a:rPr lang="en-IN" sz="2400" cap="none" dirty="0" err="1"/>
              <a:t>Cagr</a:t>
            </a:r>
            <a:r>
              <a:rPr lang="en-IN" sz="2400" cap="none" dirty="0"/>
              <a:t> </a:t>
            </a:r>
          </a:p>
          <a:p>
            <a:pPr algn="l"/>
            <a:r>
              <a:rPr lang="en-IN" sz="2400" cap="none" dirty="0"/>
              <a:t>Sharpe ratio </a:t>
            </a:r>
          </a:p>
          <a:p>
            <a:pPr algn="l"/>
            <a:r>
              <a:rPr lang="en-IN" sz="2400" cap="none" dirty="0"/>
              <a:t>Sortino ratio </a:t>
            </a:r>
          </a:p>
          <a:p>
            <a:pPr algn="l"/>
            <a:r>
              <a:rPr lang="en-IN" sz="2400" cap="none" dirty="0"/>
              <a:t>Alpha </a:t>
            </a:r>
          </a:p>
          <a:p>
            <a:pPr algn="l"/>
            <a:r>
              <a:rPr lang="en-IN" sz="2400" cap="none" dirty="0"/>
              <a:t>Beta </a:t>
            </a:r>
          </a:p>
          <a:p>
            <a:pPr algn="l"/>
            <a:r>
              <a:rPr lang="en-IN" sz="2400" cap="none" dirty="0"/>
              <a:t>Tracking error </a:t>
            </a:r>
          </a:p>
          <a:p>
            <a:pPr algn="l"/>
            <a:r>
              <a:rPr lang="en-IN" sz="2400" cap="none" dirty="0"/>
              <a:t>Maximum drawdown</a:t>
            </a:r>
          </a:p>
          <a:p>
            <a:pPr algn="l"/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C4FB2-9A30-5755-2F45-E6FD50A57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949" y="1409701"/>
            <a:ext cx="7428344" cy="476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2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EC02-1E56-1F56-6254-62F7F71DF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5694218" cy="1205344"/>
          </a:xfrm>
        </p:spPr>
        <p:txBody>
          <a:bodyPr/>
          <a:lstStyle/>
          <a:p>
            <a:pPr algn="ctr"/>
            <a:r>
              <a:rPr lang="en-IN" b="1" dirty="0"/>
              <a:t>Advanced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1097BD-F939-D6DC-6653-28B1228EE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363" y="1393151"/>
            <a:ext cx="4184074" cy="4934913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800" b="1" dirty="0"/>
              <a:t>Implemented Models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cap="none" dirty="0"/>
              <a:t>Historical var (95%)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cap="none" dirty="0"/>
              <a:t>Conditional var (</a:t>
            </a:r>
            <a:r>
              <a:rPr lang="en-IN" sz="2400" cap="none" dirty="0" err="1"/>
              <a:t>cvar</a:t>
            </a:r>
            <a:r>
              <a:rPr lang="en-IN" sz="2400" cap="none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cap="none" dirty="0"/>
              <a:t>Rolling 90-day </a:t>
            </a:r>
            <a:r>
              <a:rPr lang="en-IN" sz="2400" cap="none" dirty="0" err="1"/>
              <a:t>sharpe</a:t>
            </a:r>
            <a:r>
              <a:rPr lang="en-IN" sz="2400" cap="none" dirty="0"/>
              <a:t> ratio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cap="none" dirty="0"/>
              <a:t>Investor cohort analysis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cap="none" dirty="0"/>
              <a:t>SIP continuity analysis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cap="none" dirty="0"/>
              <a:t>Fund recommendation </a:t>
            </a:r>
          </a:p>
          <a:p>
            <a:pPr algn="l"/>
            <a:r>
              <a:rPr lang="en-IN" sz="2400" cap="none" dirty="0"/>
              <a:t>    engine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400" cap="none" dirty="0"/>
              <a:t>Sector HHI concentration </a:t>
            </a:r>
          </a:p>
          <a:p>
            <a:pPr algn="l"/>
            <a:r>
              <a:rPr lang="en-IN" sz="2400" cap="none" dirty="0"/>
              <a:t>    analysis</a:t>
            </a:r>
          </a:p>
          <a:p>
            <a:pPr algn="l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86B9B6-7B50-D743-215E-09EA31BE4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634" y="1475508"/>
            <a:ext cx="7545169" cy="428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1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6973-3F6D-D493-294E-225E0390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919019" cy="904568"/>
          </a:xfrm>
        </p:spPr>
        <p:txBody>
          <a:bodyPr>
            <a:noAutofit/>
          </a:bodyPr>
          <a:lstStyle/>
          <a:p>
            <a:r>
              <a:rPr lang="en-IN" sz="4800" b="1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C9039-7C4D-EF2E-26F0-3DC802CF5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170" y="904569"/>
            <a:ext cx="5262714" cy="240043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Industry Overview</a:t>
            </a:r>
          </a:p>
          <a:p>
            <a:r>
              <a:rPr lang="en-US" dirty="0"/>
              <a:t>Total AUM </a:t>
            </a:r>
          </a:p>
          <a:p>
            <a:r>
              <a:rPr lang="en-US" dirty="0"/>
              <a:t>SIP Inflows </a:t>
            </a:r>
          </a:p>
          <a:p>
            <a:r>
              <a:rPr lang="en-US" dirty="0"/>
              <a:t>Folios </a:t>
            </a:r>
          </a:p>
          <a:p>
            <a:r>
              <a:rPr lang="en-US" dirty="0"/>
              <a:t>AUM by AMC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DFF1-AA56-084A-7E8B-EFB1BA9BE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84736" y="731139"/>
            <a:ext cx="4298440" cy="247417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Fund Performance</a:t>
            </a:r>
          </a:p>
          <a:p>
            <a:r>
              <a:rPr lang="en-US" dirty="0"/>
              <a:t>Risk vs Return Analysis </a:t>
            </a:r>
          </a:p>
          <a:p>
            <a:r>
              <a:rPr lang="en-US" dirty="0"/>
              <a:t>Fund Scorecard </a:t>
            </a:r>
          </a:p>
          <a:p>
            <a:r>
              <a:rPr lang="en-US" dirty="0"/>
              <a:t>NAV vs Benchmark</a:t>
            </a:r>
          </a:p>
          <a:p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0C1326-AF6E-0A73-B476-B306B7D20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58" y="3028335"/>
            <a:ext cx="5449526" cy="3570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E1E64D-4B06-5270-A324-1AD3D9BD64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6" y="3028335"/>
            <a:ext cx="6009965" cy="357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71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9756C-AF3C-8936-212B-3010EB1285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3055" y="313267"/>
            <a:ext cx="3364377" cy="311573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Investor Analytics</a:t>
            </a:r>
          </a:p>
          <a:p>
            <a:r>
              <a:rPr lang="en-US" dirty="0"/>
              <a:t>State-wise Transactions </a:t>
            </a:r>
          </a:p>
          <a:p>
            <a:r>
              <a:rPr lang="en-US" dirty="0"/>
              <a:t>Investor Demographics </a:t>
            </a:r>
          </a:p>
          <a:p>
            <a:r>
              <a:rPr lang="en-US" dirty="0"/>
              <a:t>SIP Behavior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DE770D-5CEC-AC20-9493-807B05E48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37987" y="313268"/>
            <a:ext cx="4031226" cy="31157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SIP &amp; Market Trends</a:t>
            </a:r>
          </a:p>
          <a:p>
            <a:r>
              <a:rPr lang="en-US" dirty="0"/>
              <a:t>SIP vs Nifty Trends </a:t>
            </a:r>
          </a:p>
          <a:p>
            <a:r>
              <a:rPr lang="en-US" dirty="0"/>
              <a:t>Category Inflows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9A5EC-79A2-07EE-02AB-5C5985356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35" y="2664541"/>
            <a:ext cx="6005266" cy="40902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2AF82D-1FEF-9BAD-FDE8-330EB2134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683" y="2664541"/>
            <a:ext cx="5910582" cy="409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17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CB8D-C406-A1BA-51BD-130CECD71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804"/>
            <a:ext cx="6096000" cy="1015997"/>
          </a:xfrm>
        </p:spPr>
        <p:txBody>
          <a:bodyPr/>
          <a:lstStyle/>
          <a:p>
            <a:pPr algn="ctr"/>
            <a:r>
              <a:rPr lang="en-IN" b="1" dirty="0"/>
              <a:t>Key Business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9EE2A6-F701-0009-70D2-CF4A80B6C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973" y="1066801"/>
            <a:ext cx="11700388" cy="5740395"/>
          </a:xfrm>
        </p:spPr>
        <p:txBody>
          <a:bodyPr/>
          <a:lstStyle/>
          <a:p>
            <a:pPr algn="l"/>
            <a:r>
              <a:rPr lang="en-US" b="1" dirty="0"/>
              <a:t>1. Downside Risk Assessment</a:t>
            </a:r>
            <a:endParaRPr lang="en-US" dirty="0"/>
          </a:p>
          <a:p>
            <a:pPr algn="l"/>
            <a:r>
              <a:rPr lang="en-US" dirty="0"/>
              <a:t>	</a:t>
            </a:r>
            <a:r>
              <a:rPr lang="en-US" cap="none" dirty="0"/>
              <a:t>Fund </a:t>
            </a:r>
            <a:r>
              <a:rPr lang="en-US" b="1" cap="none" dirty="0"/>
              <a:t>119599</a:t>
            </a:r>
            <a:r>
              <a:rPr lang="en-US" cap="none" dirty="0"/>
              <a:t> exhibited the highest downside risk, recording the lowest var (95%) and </a:t>
            </a:r>
            <a:r>
              <a:rPr lang="en-US" cap="none" dirty="0" err="1"/>
              <a:t>cvar</a:t>
            </a:r>
            <a:r>
              <a:rPr lang="en-US" cap="none" dirty="0"/>
              <a:t> values among all analyzed 	schemes, making it more vulnerable during adverse market conditions. </a:t>
            </a:r>
          </a:p>
          <a:p>
            <a:pPr algn="l"/>
            <a:r>
              <a:rPr lang="en-US" b="1" dirty="0"/>
              <a:t>2. Investor Cohort Performance</a:t>
            </a:r>
            <a:endParaRPr lang="en-US" dirty="0"/>
          </a:p>
          <a:p>
            <a:pPr algn="l"/>
            <a:r>
              <a:rPr lang="en-US" dirty="0"/>
              <a:t>	</a:t>
            </a:r>
            <a:r>
              <a:rPr lang="en-US" cap="none" dirty="0"/>
              <a:t>The </a:t>
            </a:r>
            <a:r>
              <a:rPr lang="en-US" b="1" cap="none" dirty="0"/>
              <a:t>2024 investor cohort</a:t>
            </a:r>
            <a:r>
              <a:rPr lang="en-US" cap="none" dirty="0"/>
              <a:t> emerged as the most valuable segment, contributing over </a:t>
            </a:r>
            <a:r>
              <a:rPr lang="en-US" b="1" cap="none" dirty="0"/>
              <a:t>₹349 crore</a:t>
            </a:r>
            <a:r>
              <a:rPr lang="en-US" cap="none" dirty="0"/>
              <a:t> in 	investments across 	</a:t>
            </a:r>
            <a:r>
              <a:rPr lang="en-US" b="1" cap="none" dirty="0"/>
              <a:t>4,803 investors</a:t>
            </a:r>
            <a:r>
              <a:rPr lang="en-US" cap="none" dirty="0"/>
              <a:t>, significantly outperforming newer cohorts. </a:t>
            </a:r>
            <a:endParaRPr lang="en-US" dirty="0"/>
          </a:p>
          <a:p>
            <a:pPr algn="l"/>
            <a:r>
              <a:rPr lang="en-US" b="1" dirty="0"/>
              <a:t>3. SIP Continuity Risk</a:t>
            </a:r>
            <a:endParaRPr lang="en-US" dirty="0"/>
          </a:p>
          <a:p>
            <a:pPr algn="l"/>
            <a:r>
              <a:rPr lang="en-US" dirty="0"/>
              <a:t>	</a:t>
            </a:r>
            <a:r>
              <a:rPr lang="en-US" cap="none" dirty="0"/>
              <a:t>SIP continuity analysis identified </a:t>
            </a:r>
            <a:r>
              <a:rPr lang="en-US" b="1" cap="none" dirty="0"/>
              <a:t>1,332 investors as at-risk</a:t>
            </a:r>
            <a:r>
              <a:rPr lang="en-US" cap="none" dirty="0"/>
              <a:t>, with average contribution gaps exceeding 	35 days, 		indicating potential SIP discontinuation and investor churn. </a:t>
            </a:r>
            <a:endParaRPr lang="en-US" dirty="0"/>
          </a:p>
          <a:p>
            <a:pPr algn="l"/>
            <a:r>
              <a:rPr lang="en-US" b="1" dirty="0"/>
              <a:t>4. Portfolio Diversification</a:t>
            </a:r>
            <a:endParaRPr lang="en-US" dirty="0"/>
          </a:p>
          <a:p>
            <a:pPr algn="l"/>
            <a:r>
              <a:rPr lang="en-US" cap="none" dirty="0"/>
              <a:t>	Sector concentration analysis showed that </a:t>
            </a:r>
            <a:r>
              <a:rPr lang="en-US" b="1" cap="none" dirty="0"/>
              <a:t>25 out of 34 funds</a:t>
            </a:r>
            <a:r>
              <a:rPr lang="en-US" cap="none" dirty="0"/>
              <a:t> maintained low concentration levels, indicating strong 		diversification and reduced sector-specific risk exposure. </a:t>
            </a:r>
          </a:p>
          <a:p>
            <a:pPr algn="l"/>
            <a:r>
              <a:rPr lang="en-US" b="1" dirty="0"/>
              <a:t>5. Risk-Adjusted Fund Selection</a:t>
            </a:r>
            <a:endParaRPr lang="en-US" dirty="0"/>
          </a:p>
          <a:p>
            <a:pPr algn="l"/>
            <a:r>
              <a:rPr lang="en-US" cap="none" dirty="0"/>
              <a:t>	Sharpe ratio analysis revealed substantial differences in risk-adjusted returns across funds, demonstrating that higher 	returns do not always translate into better investment efficiency.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30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E4C6-6811-19C1-B861-D3FFDB9CD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657" y="50804"/>
            <a:ext cx="7266039" cy="952086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Business Recommendations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630CC8-5A30-B192-777E-A3A724808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289" y="1150919"/>
            <a:ext cx="10658169" cy="3342423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Recommendations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Improve SIP retention through automated reminders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Promote diversified funds to reduce concentration risk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Use risk-based fund recommendation models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Monitor high-risk funds proactively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cap="none" dirty="0"/>
              <a:t>Leverage cohort insights for targeted marketing 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86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85E3B-8CFA-B005-4C9A-75E61E485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309" y="223957"/>
            <a:ext cx="6371304" cy="995243"/>
          </a:xfrm>
        </p:spPr>
        <p:txBody>
          <a:bodyPr>
            <a:normAutofit/>
          </a:bodyPr>
          <a:lstStyle/>
          <a:p>
            <a:pPr algn="ctr"/>
            <a:r>
              <a:rPr lang="en-IN" b="1"/>
              <a:t>Project Deliverables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2CCBD-E6B1-5641-B020-C1A49C409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1396181"/>
            <a:ext cx="9488641" cy="497512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sz="2600" b="1" dirty="0"/>
              <a:t>Deliverables Generated</a:t>
            </a:r>
          </a:p>
          <a:p>
            <a:pPr algn="l"/>
            <a:r>
              <a:rPr lang="en-IN" sz="2400" cap="none" dirty="0"/>
              <a:t>Mutual fund analytics database </a:t>
            </a:r>
          </a:p>
          <a:p>
            <a:pPr algn="l"/>
            <a:r>
              <a:rPr lang="en-IN" sz="2400" cap="none" dirty="0"/>
              <a:t>EDA reports </a:t>
            </a:r>
          </a:p>
          <a:p>
            <a:pPr algn="l"/>
            <a:r>
              <a:rPr lang="en-IN" sz="2400" cap="none" dirty="0"/>
              <a:t>Performance analytics reports </a:t>
            </a:r>
          </a:p>
          <a:p>
            <a:pPr algn="l"/>
            <a:r>
              <a:rPr lang="en-IN" sz="2400" cap="none" dirty="0"/>
              <a:t>Advanced analytics notebook </a:t>
            </a:r>
          </a:p>
          <a:p>
            <a:pPr algn="l"/>
            <a:r>
              <a:rPr lang="en-IN" sz="2400" cap="none" dirty="0"/>
              <a:t>Power BI dashboard </a:t>
            </a:r>
          </a:p>
          <a:p>
            <a:pPr algn="l"/>
            <a:r>
              <a:rPr lang="en-IN" sz="2400" cap="none" dirty="0"/>
              <a:t>Recommendation engine </a:t>
            </a:r>
          </a:p>
          <a:p>
            <a:pPr algn="l"/>
            <a:r>
              <a:rPr lang="en-IN" sz="2400" cap="none" dirty="0" err="1"/>
              <a:t>Github</a:t>
            </a:r>
            <a:r>
              <a:rPr lang="en-IN" sz="2400" cap="none" dirty="0"/>
              <a:t> repository </a:t>
            </a:r>
          </a:p>
          <a:p>
            <a:pPr algn="l"/>
            <a:endParaRPr lang="en-IN" sz="2400" cap="none" dirty="0"/>
          </a:p>
          <a:p>
            <a:pPr algn="l"/>
            <a:r>
              <a:rPr lang="en-US" sz="2400" dirty="0"/>
              <a:t>GitHub:</a:t>
            </a:r>
          </a:p>
          <a:p>
            <a:pPr algn="l"/>
            <a:r>
              <a:rPr lang="en-US" sz="2400" dirty="0">
                <a:hlinkClick r:id="rId2"/>
              </a:rPr>
              <a:t>Mutual Fund Analytics Platform Repository</a:t>
            </a:r>
            <a:endParaRPr lang="en-US" sz="2400" dirty="0"/>
          </a:p>
          <a:p>
            <a:pPr algn="l"/>
            <a:endParaRPr lang="en-IN" sz="2400" cap="none" dirty="0"/>
          </a:p>
          <a:p>
            <a:pPr algn="l"/>
            <a:endParaRPr lang="en-IN" sz="2400" cap="none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229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B5F0-6937-9B19-DB82-1127CF11A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4109885" cy="95918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3E758-F103-094C-3D2A-B2072933C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4299" y="959188"/>
            <a:ext cx="10058400" cy="5531187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/>
              <a:t>Project Summary</a:t>
            </a:r>
          </a:p>
          <a:p>
            <a:pPr algn="l"/>
            <a:r>
              <a:rPr lang="en-IN" sz="2000" cap="none" dirty="0"/>
              <a:t>Successfully developed an end-to-end </a:t>
            </a:r>
            <a:r>
              <a:rPr lang="en-IN" sz="2000" b="1" cap="none" dirty="0"/>
              <a:t>mutual fund analytics platform</a:t>
            </a:r>
            <a:r>
              <a:rPr lang="en-IN" sz="2000" cap="none" dirty="0"/>
              <a:t> that integrates: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Data collection &amp; processing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Extract, Transform, Load (ETL)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Exploratory data analysis (EDA)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Financial performance analytics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Risk </a:t>
            </a:r>
            <a:r>
              <a:rPr lang="en-IN" sz="2000" cap="none" dirty="0" err="1"/>
              <a:t>modeling</a:t>
            </a:r>
            <a:r>
              <a:rPr lang="en-IN" sz="2000" cap="none" dirty="0"/>
              <a:t> &amp; advanced analytics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Investor </a:t>
            </a:r>
            <a:r>
              <a:rPr lang="en-IN" sz="2000" cap="none" dirty="0" err="1"/>
              <a:t>behavior</a:t>
            </a:r>
            <a:r>
              <a:rPr lang="en-IN" sz="2000" cap="none" dirty="0"/>
              <a:t> analysis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Fund recommendation engine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2000" cap="none" dirty="0"/>
              <a:t>Interactive power BI dashboard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117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D8099D-68A2-2945-08D3-A4F34358A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289" y="610145"/>
            <a:ext cx="11238272" cy="5938139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/>
              <a:t>Key Achievements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/>
              <a:t>Analyzed 40 mutual fund schemes using multiple performance and risk metrics.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/>
              <a:t>Built interactive dashboards for fund performance, investor analytics, and market trends.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/>
              <a:t>Developed advanced analytics models including var, </a:t>
            </a:r>
            <a:r>
              <a:rPr lang="en-US" sz="2000" cap="none" dirty="0" err="1"/>
              <a:t>cvar</a:t>
            </a:r>
            <a:r>
              <a:rPr lang="en-US" sz="2000" cap="none" dirty="0"/>
              <a:t>, rolling </a:t>
            </a:r>
            <a:r>
              <a:rPr lang="en-US" sz="2000" cap="none" dirty="0" err="1"/>
              <a:t>sharpe</a:t>
            </a:r>
            <a:r>
              <a:rPr lang="en-US" sz="2000" cap="none" dirty="0"/>
              <a:t> ratio, sip continuity analysis, and sector concentration analysis.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cap="none" dirty="0"/>
              <a:t>Generated actionable insights to support data-driven investment decisions.</a:t>
            </a:r>
            <a:r>
              <a:rPr lang="en-US" sz="2000" dirty="0"/>
              <a:t> </a:t>
            </a:r>
          </a:p>
          <a:p>
            <a:pPr algn="l"/>
            <a:endParaRPr lang="en-US" sz="2400" b="1" dirty="0"/>
          </a:p>
          <a:p>
            <a:pPr algn="l"/>
            <a:r>
              <a:rPr lang="en-US" sz="2400" b="1" dirty="0"/>
              <a:t>Closing Statement</a:t>
            </a:r>
          </a:p>
          <a:p>
            <a:pPr algn="l"/>
            <a:r>
              <a:rPr lang="en-US" sz="2000" cap="none" dirty="0"/>
              <a:t>The project demonstrates how data analytics, risk modeling, and business intelligence can be combined to transform raw mutual fund data into meaningful investment insights.</a:t>
            </a:r>
          </a:p>
          <a:p>
            <a:pPr algn="l"/>
            <a:endParaRPr lang="en-IN" sz="2000" dirty="0"/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8751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3D6FD-C351-7FB6-E2F9-C78819900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1502151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US" sz="8000" b="1" i="1" dirty="0"/>
              <a:t>Thank you</a:t>
            </a:r>
            <a:endParaRPr lang="en-IN" sz="8000" b="1" i="1" dirty="0"/>
          </a:p>
        </p:txBody>
      </p:sp>
    </p:spTree>
    <p:extLst>
      <p:ext uri="{BB962C8B-B14F-4D97-AF65-F5344CB8AC3E}">
        <p14:creationId xmlns:p14="http://schemas.microsoft.com/office/powerpoint/2010/main" val="35991236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221</TotalTime>
  <Words>654</Words>
  <Application>Microsoft Office PowerPoint</Application>
  <PresentationFormat>Widescreen</PresentationFormat>
  <Paragraphs>153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Calibri Light (Headings)</vt:lpstr>
      <vt:lpstr>Celestial</vt:lpstr>
      <vt:lpstr>Mutual Fund Analytics Platform</vt:lpstr>
      <vt:lpstr>Project Objective</vt:lpstr>
      <vt:lpstr>Data Sources</vt:lpstr>
      <vt:lpstr>Project Architecture</vt:lpstr>
      <vt:lpstr>Exploratory Data Analysis</vt:lpstr>
      <vt:lpstr>Fund Performance Analytics</vt:lpstr>
      <vt:lpstr>Advanced Analytics</vt:lpstr>
      <vt:lpstr>Power BI Dashboard</vt:lpstr>
      <vt:lpstr>PowerPoint Presentation</vt:lpstr>
      <vt:lpstr>Key Business Insights</vt:lpstr>
      <vt:lpstr>Business Recommendations</vt:lpstr>
      <vt:lpstr>Project Deliverables</vt:lpstr>
      <vt:lpstr>Conclusion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Vaibhav Raj</dc:creator>
  <cp:lastModifiedBy>Vaibhav Raj</cp:lastModifiedBy>
  <cp:revision>2</cp:revision>
  <dcterms:created xsi:type="dcterms:W3CDTF">2026-06-10T14:04:53Z</dcterms:created>
  <dcterms:modified xsi:type="dcterms:W3CDTF">2026-06-11T09:31:44Z</dcterms:modified>
</cp:coreProperties>
</file>